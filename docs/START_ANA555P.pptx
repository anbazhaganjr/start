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F2A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A527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46304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D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Technical Analysis for Reliable Trading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331720"/>
            <a:ext cx="3200400" cy="1828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Data Analytics Capstone Project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McDaniel College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Anbazhagan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54864" cy="64008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AI-driven trading strategies outperform traditional technical analysis?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496312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48840"/>
            <a:ext cx="54864" cy="21945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in Tools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investors lack systematic, AI-powered frameworks for intraday trading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27832" y="2148840"/>
            <a:ext cx="2496312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2148840"/>
            <a:ext cx="54864" cy="21945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3410712" y="22860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Unrealistic Backtests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0712" y="265176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backtests ignore real trading costs such as slippage and commissions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07024" y="2148840"/>
            <a:ext cx="2496312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07024" y="2148840"/>
            <a:ext cx="54864" cy="21945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6089904" y="22860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89904" y="265176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cost-aware framework comparing multiple approaches end-to-end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6858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389888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280160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ML models improve next-bar direction prediction beyond technical indicators alone?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48840"/>
            <a:ext cx="54864" cy="685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258568"/>
            <a:ext cx="457200" cy="45720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148840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reinforcement learning agents learn profitable trading policies?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17520"/>
            <a:ext cx="54864" cy="685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017520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LLM-based sentiment analysis add predictive value?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86200"/>
            <a:ext cx="54864" cy="68580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3995928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3886200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combination of components maximizes risk-adjusted returns?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828800" cy="43891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1673352"/>
            <a:ext cx="36576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2344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(historical) + Tradier (live quotes)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01368"/>
            <a:ext cx="1828800" cy="43891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013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240280"/>
            <a:ext cx="36576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8013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5min, 1h, daily (aggregated on-the-fly)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68296"/>
            <a:ext cx="1828800" cy="43891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682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2807208"/>
            <a:ext cx="36576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23682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technical indicators + returns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35224"/>
            <a:ext cx="1828800" cy="43891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352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RL Training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374136"/>
            <a:ext cx="36576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29352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validation, PPO, DQN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02152"/>
            <a:ext cx="1828800" cy="43891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02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3941064"/>
            <a:ext cx="36576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35021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Cost-aware: slippage, commissions, metrics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1828800" cy="43891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69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40690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7-page Streamlit app with live signals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2344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234440"/>
            <a:ext cx="54864" cy="201168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Codebase Stats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8,600+ lines of code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files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85+ config parameters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347472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474720"/>
            <a:ext cx="54864" cy="11887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Symbols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63640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 QQQ  NVDA  AAPL  TSLA  MSFT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AMZN  META  GOOGL  AMD  NFLX  AVGO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54864" cy="32918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Technical 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(12, 26, 9)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(14)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 (20, 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20 / SMA 50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distance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log returns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range, volume ratio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4630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Design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next-bar direction (no look-ahead bias)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filter: drops features with |r| &gt; 0.95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only (never k-fold on time series)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926080"/>
            <a:ext cx="54864" cy="1600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Features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returns &amp; log returns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 windows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range &amp; volume ratio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L2-regularized 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of decision trees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hidden, 1 layer, seq_len=20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→ 8 filters, kernel 5/3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42900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3429000"/>
            <a:ext cx="54864" cy="1188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840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Walk-forward: expanding + sliding windows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k-fold on time series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34290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3429000"/>
            <a:ext cx="54864" cy="11887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3" name="Text 10"/>
          <p:cNvSpPr/>
          <p:nvPr/>
        </p:nvSpPr>
        <p:spPr>
          <a:xfrm>
            <a:off x="480060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0060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~50-52% accuracy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80060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Efficient Market Hypothesis literature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54864" cy="1188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98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2024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 method with clipped objective for stable training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54864" cy="11887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98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DQN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method with experience replay and target network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97480"/>
            <a:ext cx="54864" cy="2011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788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Gymnasium Environment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20040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Buy / Sell / Hold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after-cost PnL with drawdown penalty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 constraint, 100 shares per trade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stable-baselines3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54864" cy="10058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98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7B (Q4_K_M) via Ollama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 (no API costs)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for efficient GPU usage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text 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23160"/>
            <a:ext cx="54864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871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Vantage News Sentiment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headlines across 12 symbols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news feed integration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Pre-scored sentiment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11880"/>
            <a:ext cx="54864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758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PhraseBank Fallback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977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4,846 annotated sentences (Malo et al., 2014)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 for financial NLP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live data unavailable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Polarity:  -1 (bearish)  /  0 (neutral)  /  +1 (bullish)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Cost-Aware Backtesting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Costs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Slippage: 0.01% per trade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Commission: $0.005 / share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37160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~15-20%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583680" y="1600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costs, strategies appear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more profitable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5029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80360"/>
            <a:ext cx="54864" cy="18288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3337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&amp; profit factor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curves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Trade-by-trade analysis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Regime-specific breakdown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880360"/>
            <a:ext cx="3017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2880360"/>
            <a:ext cx="54864" cy="1828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SPY Regime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89320" y="33375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market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market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 / range-bound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5029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indicators_only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crossover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indicators_ml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+ best ML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indicators_ml_sentiment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+ ML + LLM sentiment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rl_only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agent standalone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majority vote (all components)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37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all 12 symbols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749040"/>
            <a:ext cx="54864" cy="91440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822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4160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improve Sharpe ratio over indicators alone. Sentiment adds marginal but positive value. Full hybrid ensemble provides the most stable risk-adjusted returns.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Signal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strategies with confidence-weighted consensus voting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45920"/>
            <a:ext cx="54864" cy="2011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Rule-Based Strategies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Crossover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45920"/>
            <a:ext cx="54864" cy="20116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ML Models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on latest data each cycle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86200"/>
            <a:ext cx="54864" cy="91440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251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SELL / HOLD with confidence score + plain-English reasoning. Updates on each page refresh via Tradier live quotes.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 on Streamlit Community Cloud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54864" cy="65836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91640"/>
            <a:ext cx="32004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892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ticker strip, project overview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377440"/>
            <a:ext cx="54864" cy="65836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514600"/>
            <a:ext cx="320040" cy="3200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441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Heatmap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715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agreement across symbols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200400"/>
            <a:ext cx="54864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337560"/>
            <a:ext cx="32004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Charts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5387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curves, candlestick charts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023360"/>
            <a:ext cx="54864" cy="658368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160520"/>
            <a:ext cx="320040" cy="32004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087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361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scores, headline analysis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155448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554480"/>
            <a:ext cx="54864" cy="65836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1691640"/>
            <a:ext cx="320040" cy="320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1618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18928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contribution radar charts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37744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37744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Shape 37"/>
          <p:cNvSpPr/>
          <p:nvPr/>
        </p:nvSpPr>
        <p:spPr>
          <a:xfrm>
            <a:off x="4800600" y="2514600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12080" y="2715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strategy simulator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320040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200400"/>
            <a:ext cx="54864" cy="65836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5" name="Shape 43"/>
          <p:cNvSpPr/>
          <p:nvPr/>
        </p:nvSpPr>
        <p:spPr>
          <a:xfrm>
            <a:off x="4800600" y="3337560"/>
            <a:ext cx="320040" cy="3200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12080" y="3264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12080" y="35387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summary, risk quiz, calculator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50-52%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234440"/>
            <a:ext cx="54864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325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15-20%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234440"/>
            <a:ext cx="54864" cy="13716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325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80467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80360"/>
            <a:ext cx="54864" cy="192024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971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3832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accuracy of 50-52% is consistent with Efficient Market Hypothesis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 ratios vary by symbol and market regime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backtesting reduces apparent profitability by 15-20%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 ensemble provides the most stable risk-adjusted returns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adds marginal but positive contribution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54864" cy="3383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near random for individual bars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agents prone to in-sample overfitting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 constraint limits downside protection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position sizing (no dynamic allocation)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33832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strategies, multi-asset portfolios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architectures (attention-based models)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data pipeline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position sizing with Kelly criterion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Fama, E. (1970). Efficient capital markets: A review of theory and empirical work. Journal of Finance.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Park, C. &amp; Irwin, S. (2007). What do we know about the profitability of technical analysis? Journal of Economic Surveys.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Prado, M. L. (2018). Advances in Financial Machine Learning. Wiley.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Bailey, D. et al. (2014). The deflated Sharpe ratio. Journal of Portfolio Management.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Malo, P. et al. (2014). Good debt or bad debt: Detecting semantic orientations in economic texts. JASIST.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Schulman, J. et al. (2017). Proximal Policy Optimization algorithms. arXiv:1707.06347.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Mnih, V. et al. (2015). Human-level control through deep reinforcement learning. Nature.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Kissell, R. (2013). The Science of Algorithmic Trading and Portfolio Management. Academic Press.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F2A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527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188720"/>
            <a:ext cx="2743200" cy="274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ED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Anbazhagan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Data Analytics  |  McDaniel College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 - Strategic Technical Analysis for Reliable Trading</dc:title>
  <dc:subject>PptxGenJS Presentation</dc:subject>
  <dc:creator>Naresh Anbazhagan</dc:creator>
  <cp:lastModifiedBy>Naresh Anbazhagan</cp:lastModifiedBy>
  <cp:revision>1</cp:revision>
  <dcterms:created xsi:type="dcterms:W3CDTF">2026-04-04T15:44:24Z</dcterms:created>
  <dcterms:modified xsi:type="dcterms:W3CDTF">2026-04-04T15:44:24Z</dcterms:modified>
</cp:coreProperties>
</file>