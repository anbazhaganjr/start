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7" r:id="rId2"/>
    <p:sldId id="256" r:id="rId3"/>
    <p:sldId id="267" r:id="rId4"/>
    <p:sldId id="269" r:id="rId5"/>
    <p:sldId id="258" r:id="rId6"/>
    <p:sldId id="259" r:id="rId7"/>
    <p:sldId id="265" r:id="rId8"/>
    <p:sldId id="260" r:id="rId9"/>
    <p:sldId id="261" r:id="rId10"/>
    <p:sldId id="262" r:id="rId11"/>
    <p:sldId id="263" r:id="rId12"/>
    <p:sldId id="264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266" autoAdjust="0"/>
    <p:restoredTop sz="94598"/>
  </p:normalViewPr>
  <p:slideViewPr>
    <p:cSldViewPr snapToGrid="0">
      <p:cViewPr varScale="1">
        <p:scale>
          <a:sx n="114" d="100"/>
          <a:sy n="114" d="100"/>
        </p:scale>
        <p:origin x="1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C66C4F-192D-498F-BD65-C7276C4381C3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C0417F-BBE6-41DA-86CF-C301FE212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231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0417F-BBE6-41DA-86CF-C301FE2120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20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39E49-8EC7-994B-02D5-FEEB9D881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0C4435-F3BA-39BB-7592-7992FA185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81F1D3-40C3-AE9A-3D8C-EE5EA2017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B6FB9-3BA5-B080-14FA-04F46EBAF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0417F-BBE6-41DA-86CF-C301FE2120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29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B941-6FF2-33D3-C59F-6ED300B19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4334E9-EC11-08CF-D6EC-17438605F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6E55D-A05D-0B30-FCB0-5E83FB0CE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3DB75-D680-EE03-013C-9BC92C38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C0417F-BBE6-41DA-86CF-C301FE2120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595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259E9-C1D2-7A41-61E1-E5A06B60EB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37880-3EC8-66F5-B65A-9FF846E375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89BE1-F021-0B06-5124-C7A978C2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11040-6711-1F2E-7AEA-207674B0B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DF4D84-970F-6BF5-1F94-CCE71F36A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33953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51258-4E2A-30F3-A7AC-191AB52C3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78212-FEBE-34CB-15FE-1BFEBFCF8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6D666-621C-CB3D-5AA2-9673EDEE6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A26DD-3635-592B-C93E-4E8A218E3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260C7-0878-1FDC-06BA-CE692D75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4073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8B333-5A11-1B03-435A-347E059D1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D02C-A895-7B3B-6989-6A866E4E9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C603D-8F93-D166-F54A-5D5EB76F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7F010-6B27-4E0D-89D3-3CC8BF7A2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19BAE-2B1A-9C65-3538-AA4BCA264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30643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10F1F-00DB-5C85-24F0-920C9B62F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E649F-4E65-3B9B-E79B-8D2540F37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40539F-AEBC-D9B2-34CE-FAF601F55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F3E1D-A1B2-B14C-A9EE-3B15C6F03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03E91-DB1B-143C-8810-56842670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C03372-F6D7-963E-01E0-99F0278FE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29674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F68DF-8D71-A874-1019-2BC24CEC5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41AB5-A71C-E78A-21BF-D6B24B0C2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9FAF9A-8BC8-88C6-80E0-239AE385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3C1F12-0141-D0F1-927D-F202D2A195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B96A8C-2FC5-3DC7-C232-F5F8119196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D86599-67FC-51C4-2B84-3761E9E7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8D2FE5-BD03-2F9E-CDA7-897615A4B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7BA0C1-9DF3-FA9D-ECD1-3F97EF0AB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5203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4AA4B-FAC8-EFF7-42BD-A62A16597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B7B2B5-75C9-2172-2A62-F7846720B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9F3CC0-1672-9AE3-CE2B-7D365F6D1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0012CA-7970-AB66-AC0C-C1DF2D509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25599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FD2A0C-F7E6-3940-8C96-243B42070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FEAD7B-F7AA-03B2-E863-B6443EF88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8AD8F-9EED-F5FE-9EC7-BD7F975B5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92474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8FD95-8EE5-3C31-9411-27A35B5C1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1685-DE6A-60C7-3F04-30DAA0CBD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98484C-43CA-55E6-58F3-DA9D694BA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5A3509-9873-4704-86FB-9BD86A70C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27115F-B966-018E-316A-2F8534BBB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FA9D4A-C684-29E1-27F7-3C249A49E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19495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8B6AB-2852-9002-F2CD-8E23E25E2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A96417-5CE7-0E5A-6052-A91120D16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903574-C421-6235-DF69-DFD0945FD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91454D-9B41-531A-6391-BFB2C1D64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1FD49-74A3-D9CA-3FB7-BB7580763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F7592B-ECA3-2C70-F5DE-C0FF765F9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6108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09C64-3C8F-C7C9-0189-4E334DD32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336D1-B01D-8992-E5DD-223103577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BD705-44C0-555D-61E2-41FA2647F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A1B3-A25F-5669-BE08-6CAED5D43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1A37E-908B-4E64-F500-FFBFAE68F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15005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34D2AE-B0A4-DA3F-9D06-2B9582D143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7699D-8137-DEC9-0934-611DF29ECC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A01A4-59FD-231D-718A-C8D00C9FA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855EC-5E8D-FABA-8CC2-2624941FE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23A7F-BBE8-CD59-8873-1002B3DA7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720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23BE44-259D-C0EC-1F19-1DD1F2590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72F0A-4B24-8437-74E4-80E191A03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64057-D8E7-58EC-2B72-AFE473AC1C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F702DA-1630-4F89-AAFD-F55C115B4AE4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26202-355E-89B2-6B3B-50D5D21CB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D9C67-97D5-11F3-88C3-89F51924CD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BDD18-C408-4004-8ACA-D489D69EFD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4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4.png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4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C51AEA1-72A2-66D0-6C35-6FFA0B504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6912" y="2990749"/>
            <a:ext cx="2968752" cy="876502"/>
          </a:xfrm>
        </p:spPr>
        <p:txBody>
          <a:bodyPr>
            <a:noAutofit/>
          </a:bodyPr>
          <a:lstStyle/>
          <a:p>
            <a:r>
              <a:rPr lang="en-US" sz="7200" dirty="0">
                <a:solidFill>
                  <a:srgbClr val="002060"/>
                </a:solidFill>
                <a:latin typeface="Aptos Mono" panose="020B0009020202020204" pitchFamily="49" charset="0"/>
              </a:rPr>
              <a:t>h</a:t>
            </a:r>
            <a:r>
              <a:rPr lang="en-US" sz="7200" dirty="0">
                <a:solidFill>
                  <a:srgbClr val="7030A0"/>
                </a:solidFill>
                <a:latin typeface="Aptos Mono" panose="020B0009020202020204" pitchFamily="49" charset="0"/>
              </a:rPr>
              <a:t>e</a:t>
            </a:r>
            <a:r>
              <a:rPr lang="en-US" sz="7200" dirty="0">
                <a:solidFill>
                  <a:srgbClr val="FF0000"/>
                </a:solidFill>
                <a:latin typeface="Aptos Mono" panose="020B0009020202020204" pitchFamily="49" charset="0"/>
              </a:rPr>
              <a:t>l</a:t>
            </a:r>
            <a:r>
              <a:rPr lang="en-US" sz="7200" dirty="0">
                <a:solidFill>
                  <a:schemeClr val="bg1">
                    <a:lumMod val="50000"/>
                  </a:schemeClr>
                </a:solidFill>
                <a:latin typeface="Aptos Mono" panose="020B0009020202020204" pitchFamily="49" charset="0"/>
              </a:rPr>
              <a:t>l</a:t>
            </a:r>
            <a:r>
              <a:rPr lang="en-US" sz="7200" dirty="0">
                <a:solidFill>
                  <a:srgbClr val="00B0F0"/>
                </a:solidFill>
                <a:latin typeface="Aptos Mono" panose="020B0009020202020204" pitchFamily="49" charset="0"/>
              </a:rPr>
              <a:t>o</a:t>
            </a:r>
          </a:p>
        </p:txBody>
      </p:sp>
      <p:pic>
        <p:nvPicPr>
          <p:cNvPr id="11" name="Graphic 10" descr="Robot">
            <a:extLst>
              <a:ext uri="{FF2B5EF4-FFF2-40B4-BE49-F238E27FC236}">
                <a16:creationId xmlns:a16="http://schemas.microsoft.com/office/drawing/2014/main" id="{ABBC2B5C-0095-607D-4E98-769CEAB863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35" y="1555291"/>
            <a:ext cx="3747418" cy="3747418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90433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 advTm="500">
        <p14:ripple/>
      </p:transition>
    </mc:Choice>
    <mc:Fallback xmlns="">
      <p:transition spd="slow" advClick="0" advTm="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B5243FB3-D16E-2F40-BD49-F724BFB8E8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189" r="17903"/>
          <a:stretch>
            <a:fillRect/>
          </a:stretch>
        </p:blipFill>
        <p:spPr>
          <a:xfrm>
            <a:off x="6455664" y="0"/>
            <a:ext cx="5736336" cy="685800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7E5F54-2418-7587-5A26-1CFF6C2C11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5236" y="2555917"/>
            <a:ext cx="10698480" cy="1746165"/>
          </a:xfrm>
        </p:spPr>
        <p:txBody>
          <a:bodyPr anchor="ctr">
            <a:normAutofit/>
          </a:bodyPr>
          <a:lstStyle/>
          <a:p>
            <a:r>
              <a:rPr lang="en-US" sz="2400" b="1" dirty="0">
                <a:solidFill>
                  <a:srgbClr val="FFFF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Strategic Technical Analysis for Reliable Trading (START)</a:t>
            </a:r>
            <a:br>
              <a:rPr lang="en-US" sz="2800" dirty="0">
                <a:solidFill>
                  <a:srgbClr val="FFFF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200" i="1" dirty="0">
                <a:solidFill>
                  <a:srgbClr val="FFFF00"/>
                </a:solidFill>
                <a:latin typeface="Zapfino" panose="03030300040707070C03" pitchFamily="66" charset="77"/>
              </a:rPr>
              <a:t>An AI-Driven Market Adaptation for Intraday Trading</a:t>
            </a:r>
            <a:endParaRPr lang="en-US" sz="1200" dirty="0">
              <a:solidFill>
                <a:srgbClr val="FFFF00"/>
              </a:solidFill>
              <a:latin typeface="Zapfino" panose="03030300040707070C03" pitchFamily="66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669672-F02B-4915-78AA-D0357312AB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5915829" cy="775494"/>
          </a:xfrm>
        </p:spPr>
        <p:txBody>
          <a:bodyPr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Presented by: </a:t>
            </a:r>
            <a:r>
              <a:rPr lang="en-US" sz="1200" dirty="0">
                <a:solidFill>
                  <a:srgbClr val="002060"/>
                </a:solidFill>
                <a:latin typeface="Aptos Mono" panose="020B0009020202020204" pitchFamily="49" charset="0"/>
              </a:rPr>
              <a:t>Naresh Anbazhagan</a:t>
            </a:r>
            <a:br>
              <a:rPr lang="en-US" sz="1200" dirty="0">
                <a:solidFill>
                  <a:srgbClr val="002060"/>
                </a:solidFill>
                <a:latin typeface="Aptos Mono" panose="020B0009020202020204" pitchFamily="49" charset="0"/>
              </a:rPr>
            </a:b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Course:</a:t>
            </a:r>
            <a:r>
              <a:rPr lang="en-US" sz="1200" dirty="0">
                <a:solidFill>
                  <a:srgbClr val="002060"/>
                </a:solidFill>
                <a:latin typeface="Aptos Mono" panose="020B0009020202020204" pitchFamily="49" charset="0"/>
              </a:rPr>
              <a:t> ANA 555P</a:t>
            </a:r>
            <a:br>
              <a:rPr lang="en-US" sz="1200" dirty="0">
                <a:solidFill>
                  <a:srgbClr val="002060"/>
                </a:solidFill>
                <a:latin typeface="Aptos Mono" panose="020B0009020202020204" pitchFamily="49" charset="0"/>
              </a:rPr>
            </a:b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Date:</a:t>
            </a:r>
            <a:r>
              <a:rPr lang="en-US" sz="1200" dirty="0">
                <a:solidFill>
                  <a:srgbClr val="002060"/>
                </a:solidFill>
                <a:latin typeface="Aptos Mono" panose="020B0009020202020204" pitchFamily="49" charset="0"/>
              </a:rPr>
              <a:t> January 10, 2026</a:t>
            </a:r>
          </a:p>
        </p:txBody>
      </p:sp>
      <p:pic>
        <p:nvPicPr>
          <p:cNvPr id="25" name="Audio 24">
            <a:extLst>
              <a:ext uri="{FF2B5EF4-FFF2-40B4-BE49-F238E27FC236}">
                <a16:creationId xmlns:a16="http://schemas.microsoft.com/office/drawing/2014/main" id="{D2E5676A-AA6E-7E59-0131-BA83164D35B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38992" y="5886704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4654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 advTm="44720">
        <p15:prstTrans prst="curtains"/>
      </p:transition>
    </mc:Choice>
    <mc:Fallback xmlns="">
      <p:transition spd="slow" advTm="4472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"/>
                            </p:stCondLst>
                            <p:childTnLst>
                              <p:par>
                                <p:cTn id="8" presetID="4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 tmFilter="0,0; .5, 1; 1, 1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8" fill="hold" grpId="2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  <p:bldLst>
      <p:bldP spid="3" grpId="2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AA49D8-8DC5-4317-F660-A69992C2C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F9315CE-614D-301C-FD36-9D38E55C6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A06EFB-BE85-DCE7-2358-16DD94731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FF6859-B8EC-C62B-8FEF-3EBAD9F57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339795"/>
            <a:ext cx="6238104" cy="617277"/>
          </a:xfrm>
        </p:spPr>
        <p:txBody>
          <a:bodyPr>
            <a:noAutofit/>
          </a:bodyPr>
          <a:lstStyle/>
          <a:p>
            <a:pPr algn="just"/>
            <a:r>
              <a:rPr lang="en-US" sz="2800" dirty="0">
                <a:solidFill>
                  <a:schemeClr val="tx2"/>
                </a:solidFill>
                <a:latin typeface="Aptos Mono" panose="020B0009020202020204" pitchFamily="49" charset="0"/>
              </a:rPr>
              <a:t>Why START? Goals, Challenges &amp; Approach</a:t>
            </a:r>
          </a:p>
        </p:txBody>
      </p:sp>
      <p:pic>
        <p:nvPicPr>
          <p:cNvPr id="11" name="Graphic 10" descr="Robot">
            <a:extLst>
              <a:ext uri="{FF2B5EF4-FFF2-40B4-BE49-F238E27FC236}">
                <a16:creationId xmlns:a16="http://schemas.microsoft.com/office/drawing/2014/main" id="{AB48A5C6-A043-E9B2-EFE2-08314AA0C0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21F751-084E-823D-F651-078B62F99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3" y="1078992"/>
            <a:ext cx="5414475" cy="5439213"/>
          </a:xfrm>
        </p:spPr>
        <p:txBody>
          <a:bodyPr anchor="ctr">
            <a:noAutofit/>
          </a:bodyPr>
          <a:lstStyle/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</a:pPr>
            <a:r>
              <a:rPr lang="en-US" sz="1600" b="1" dirty="0">
                <a:solidFill>
                  <a:schemeClr val="tx2"/>
                </a:solidFill>
                <a:latin typeface="Aptos Mono" panose="020B0009020202020204" pitchFamily="49" charset="0"/>
              </a:rPr>
              <a:t>Goal</a:t>
            </a:r>
            <a:r>
              <a:rPr lang="en-US" sz="1600" dirty="0">
                <a:solidFill>
                  <a:schemeClr val="tx2"/>
                </a:solidFill>
                <a:latin typeface="Aptos Mono" panose="020B0009020202020204" pitchFamily="49" charset="0"/>
              </a:rPr>
              <a:t>: To design and prototype a real-time, adaptive intraday trading system that combines technical indicators, machine learning models, and market sentiment for intelligent trade decision-making.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</a:pPr>
            <a:r>
              <a:rPr lang="en-US" sz="1600" b="1" dirty="0">
                <a:solidFill>
                  <a:schemeClr val="tx2"/>
                </a:solidFill>
                <a:latin typeface="Aptos Mono" panose="020B0009020202020204" pitchFamily="49" charset="0"/>
              </a:rPr>
              <a:t>Challenges:</a:t>
            </a:r>
            <a:r>
              <a:rPr lang="en-US" sz="1600" dirty="0">
                <a:solidFill>
                  <a:schemeClr val="tx2"/>
                </a:solidFill>
                <a:latin typeface="Aptos Mono" panose="020B0009020202020204" pitchFamily="49" charset="0"/>
              </a:rPr>
              <a:t> Traditional trading models are static, rule-based, and often fail to adapt to sudden market shifts, sentiment-driven trends, and high intraday volatility. This leads to poor performance during regime changes and unpredictable events.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CAF69D-80CD-9FDE-3A01-954EF1E50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832404-8EC9-1190-BE46-35B55C878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0B5DFA-87CA-44CC-4701-D8061F4C9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92D0CC5-C1BE-13BC-9438-E6A55A9B1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8614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3" presetClass="emph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hsl" dir="cw">
                                      <p:cBhvr override="childStyl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10842353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10842353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10842353" s="0" l="0"/>
                                      </p:by>
                                    </p:animClr>
                                    <p:set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300"/>
                            </p:stCondLst>
                            <p:childTnLst>
                              <p:par>
                                <p:cTn id="2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250"/>
                            </p:stCondLst>
                            <p:childTnLst>
                              <p:par>
                                <p:cTn id="28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EAC238-CFBB-5B1E-A40C-4CEB60972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78DB52A-7DE4-6793-468D-4DF915FDD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79D441-F1D5-CF12-684C-F9116912E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Robot">
            <a:extLst>
              <a:ext uri="{FF2B5EF4-FFF2-40B4-BE49-F238E27FC236}">
                <a16:creationId xmlns:a16="http://schemas.microsoft.com/office/drawing/2014/main" id="{D642873C-B512-A28E-1256-018931DED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4808F3B-5353-D3BA-87D5-790F49B5B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3" y="188976"/>
            <a:ext cx="5414475" cy="6329229"/>
          </a:xfrm>
        </p:spPr>
        <p:txBody>
          <a:bodyPr anchor="ctr">
            <a:noAutofit/>
          </a:bodyPr>
          <a:lstStyle/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</a:pPr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Approach: 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START proposes a hybrid AI-driven framework that: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🧠 Analyzes price action using key technical indicators (MACD, RSI, VWAP)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🤖 Learns patterns via machine learning models 	(e.g., linear regression, LSTM)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🎮 Optimizes trading decisions with reinforcement learning agents (in progress)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💬 Incorporates sentiment signals from social and financial news using LLMs (in </a:t>
            </a:r>
            <a:r>
              <a:rPr lang="en-US" sz="1200" dirty="0" err="1">
                <a:solidFill>
                  <a:schemeClr val="tx2"/>
                </a:solidFill>
                <a:latin typeface="Aptos Mono" panose="020B0009020202020204" pitchFamily="49" charset="0"/>
              </a:rPr>
              <a:t>progresss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)</a:t>
            </a:r>
          </a:p>
          <a:p>
            <a:pPr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Scope of Data: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📊 Tickers: AAPL, TSLA, AMZN, MSFT and etc.,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🕒 Timeframe: Jan 2023 – Jul 2025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⏱️ Granularity: 5-minute intraday bars</a:t>
            </a:r>
          </a:p>
          <a:p>
            <a:pPr marL="457200" lvl="1" indent="0" algn="just">
              <a:lnSpc>
                <a:spcPct val="15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🔗 Source: Real-time and historical data via Alpaca API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1E88A54-0F29-E780-386A-EEAC1A60F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199E7D0-D28C-A467-E77A-CA8F7C94BF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CAC29F0-0BE1-70A0-87DF-3DB8EA445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DD6F9B9-C7A1-7C59-E74C-A38E393EC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75300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950"/>
                            </p:stCondLst>
                            <p:childTnLst>
                              <p:par>
                                <p:cTn id="1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150"/>
                            </p:stCondLst>
                            <p:childTnLst>
                              <p:par>
                                <p:cTn id="19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450"/>
                            </p:stCondLst>
                            <p:childTnLst>
                              <p:par>
                                <p:cTn id="23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500"/>
                            </p:stCondLst>
                            <p:childTnLst>
                              <p:par>
                                <p:cTn id="27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700"/>
                            </p:stCondLst>
                            <p:childTnLst>
                              <p:par>
                                <p:cTn id="31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350"/>
                            </p:stCondLst>
                            <p:childTnLst>
                              <p:par>
                                <p:cTn id="3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450"/>
                            </p:stCondLst>
                            <p:childTnLst>
                              <p:par>
                                <p:cTn id="39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9300"/>
                            </p:stCondLst>
                            <p:childTnLst>
                              <p:par>
                                <p:cTn id="43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50"/>
                            </p:stCondLst>
                            <p:childTnLst>
                              <p:par>
                                <p:cTn id="47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6E7290-4D1E-AD51-F075-0C6D54FD0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2758439" cy="366395"/>
          </a:xfrm>
        </p:spPr>
        <p:txBody>
          <a:bodyPr>
            <a:normAutofit fontScale="90000"/>
          </a:bodyPr>
          <a:lstStyle/>
          <a:p>
            <a:r>
              <a:rPr lang="en-US" sz="2000" dirty="0">
                <a:latin typeface="Aptos Mono" panose="020B0009020202020204" pitchFamily="49" charset="0"/>
              </a:rPr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22A40-081C-C43A-D850-ECF519474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29056"/>
            <a:ext cx="5257800" cy="5590032"/>
          </a:xfrm>
        </p:spPr>
        <p:txBody>
          <a:bodyPr>
            <a:normAutofit lnSpcReduction="10000"/>
          </a:bodyPr>
          <a:lstStyle/>
          <a:p>
            <a:pPr algn="just">
              <a:lnSpc>
                <a:spcPct val="150000"/>
              </a:lnSpc>
            </a:pP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Brock et al. (1992):</a:t>
            </a:r>
            <a:r>
              <a:rPr lang="en-US" sz="1200" dirty="0">
                <a:latin typeface="Aptos Mono" panose="020B0009020202020204" pitchFamily="49" charset="0"/>
              </a:rPr>
              <a:t> Demonstrated that moving average strategies outperform buy-and-hold in many cases, supporting the use of indicators like MACD and RSI in START. </a:t>
            </a:r>
          </a:p>
          <a:p>
            <a:pPr algn="just">
              <a:lnSpc>
                <a:spcPct val="150000"/>
              </a:lnSpc>
            </a:pP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Lo et al. (2000): </a:t>
            </a:r>
            <a:r>
              <a:rPr lang="en-US" sz="1200" dirty="0">
                <a:latin typeface="Aptos Mono" panose="020B0009020202020204" pitchFamily="49" charset="0"/>
              </a:rPr>
              <a:t>Showed that statistical modeling improves the reliability of trading signals, validating the use of regression-based ML models.</a:t>
            </a:r>
          </a:p>
          <a:p>
            <a:pPr algn="just">
              <a:lnSpc>
                <a:spcPct val="150000"/>
              </a:lnSpc>
            </a:pP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Park &amp; Irwin (2007): </a:t>
            </a:r>
            <a:r>
              <a:rPr lang="en-US" sz="1200" dirty="0">
                <a:latin typeface="Aptos Mono" panose="020B0009020202020204" pitchFamily="49" charset="0"/>
              </a:rPr>
              <a:t>Found technical analysis performs best in momentum-driven markets, reinforcing START’s regime-aware design.</a:t>
            </a:r>
          </a:p>
          <a:p>
            <a:pPr algn="just">
              <a:lnSpc>
                <a:spcPct val="150000"/>
              </a:lnSpc>
            </a:pP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Deng et al. (2020): </a:t>
            </a:r>
            <a:r>
              <a:rPr lang="en-US" sz="1200" dirty="0">
                <a:latin typeface="Aptos Mono" panose="020B0009020202020204" pitchFamily="49" charset="0"/>
              </a:rPr>
              <a:t>Proved that combining deep reinforcement learning with sentiment analysis enhances prediction accuracy, which underpins START’s future integration of RL agents and LLMs.</a:t>
            </a:r>
          </a:p>
          <a:p>
            <a:pPr algn="just">
              <a:lnSpc>
                <a:spcPct val="150000"/>
              </a:lnSpc>
            </a:pPr>
            <a:r>
              <a:rPr lang="en-US" sz="1200" b="1" dirty="0">
                <a:solidFill>
                  <a:srgbClr val="002060"/>
                </a:solidFill>
                <a:latin typeface="Aptos Mono" panose="020B0009020202020204" pitchFamily="49" charset="0"/>
              </a:rPr>
              <a:t>Synthesis: </a:t>
            </a:r>
            <a:r>
              <a:rPr lang="en-US" sz="1200" dirty="0">
                <a:latin typeface="Aptos Mono" panose="020B0009020202020204" pitchFamily="49" charset="0"/>
              </a:rPr>
              <a:t>These foundational studies support START’s multi-layered AI strategy, combining time-tested indicators with adaptive learning and real-time sentiment to improve trade timing and decision quality.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200" dirty="0">
              <a:latin typeface="Aptos Mono" panose="020B0009020202020204" pitchFamily="49" charset="0"/>
            </a:endParaRPr>
          </a:p>
        </p:txBody>
      </p:sp>
      <p:pic>
        <p:nvPicPr>
          <p:cNvPr id="13" name="Picture 12" descr="Financial graphs on a dark display">
            <a:extLst>
              <a:ext uri="{FF2B5EF4-FFF2-40B4-BE49-F238E27FC236}">
                <a16:creationId xmlns:a16="http://schemas.microsoft.com/office/drawing/2014/main" id="{C35EF506-E9AD-95C9-7B79-EE5DD4572B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041" r="25618"/>
          <a:stretch>
            <a:fillRect/>
          </a:stretch>
        </p:blipFill>
        <p:spPr>
          <a:xfrm>
            <a:off x="6486144" y="10"/>
            <a:ext cx="5705856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  <p:pic>
        <p:nvPicPr>
          <p:cNvPr id="19" name="Audio 18">
            <a:extLst>
              <a:ext uri="{FF2B5EF4-FFF2-40B4-BE49-F238E27FC236}">
                <a16:creationId xmlns:a16="http://schemas.microsoft.com/office/drawing/2014/main" id="{6CB4D094-FEDD-A125-428A-78D003CB297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799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 advTm="53220">
        <p14:glitter pattern="hexagon"/>
      </p:transition>
    </mc:Choice>
    <mc:Fallback xmlns="">
      <p:transition spd="slow" advTm="5322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45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65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965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3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1AC33F-68C1-8AE3-ACBC-115ECB99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4" y="370996"/>
            <a:ext cx="3184007" cy="355285"/>
          </a:xfrm>
        </p:spPr>
        <p:txBody>
          <a:bodyPr>
            <a:normAutofit fontScale="90000"/>
          </a:bodyPr>
          <a:lstStyle/>
          <a:p>
            <a:r>
              <a:rPr lang="en-US" sz="2400" dirty="0">
                <a:solidFill>
                  <a:schemeClr val="tx2"/>
                </a:solidFill>
                <a:latin typeface="Aptos Mono" panose="020B0009020202020204" pitchFamily="49" charset="0"/>
              </a:rPr>
              <a:t>Data Description</a:t>
            </a:r>
          </a:p>
        </p:txBody>
      </p:sp>
      <p:pic>
        <p:nvPicPr>
          <p:cNvPr id="8" name="Graphic 7" descr="Database">
            <a:extLst>
              <a:ext uri="{FF2B5EF4-FFF2-40B4-BE49-F238E27FC236}">
                <a16:creationId xmlns:a16="http://schemas.microsoft.com/office/drawing/2014/main" id="{D6BEB607-0E95-6459-7C50-920EAD1EB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D7FF2FB-107F-0E67-9115-C047D72C2A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4103" y="726280"/>
            <a:ext cx="5410945" cy="561355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Source: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 Alpaca API (historical 5-minute intraday bars)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Assets: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AAPL, TSLA, AMZN, MSFT and so on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Time Range: Jan 2023 – Jul 2025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Interval: 5-minute bars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Data Fields: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timestamp, open, high, low, close, volume, </a:t>
            </a:r>
            <a:r>
              <a:rPr kumimoji="0" lang="en-US" altLang="en-US" sz="11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vwap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ptos Mono" panose="020B0009020202020204" pitchFamily="49" charset="0"/>
            </a:endParaRPr>
          </a:p>
          <a:p>
            <a:pPr marL="0" marR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lang="en-US" alt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Engineered Features: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Technical Indicators: MACD, RSI, MA (20, 50)</a:t>
            </a:r>
          </a:p>
          <a:p>
            <a:pPr marL="228600" marR="0"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en-US" alt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Returns: % Change, Log Returns, Cumulative Returns</a:t>
            </a:r>
          </a:p>
          <a:p>
            <a:pPr marL="228600" marR="0"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en-US" alt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Volatility: 5-period rolling standard deviation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ptos Mono" panose="020B0009020202020204" pitchFamily="49" charset="0"/>
              </a:rPr>
              <a:t>Sample Stats (AAPL):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Mean Price: </a:t>
            </a:r>
            <a:r>
              <a:rPr lang="en-US" sz="1100" b="1" dirty="0">
                <a:latin typeface="Aptos Mono" panose="020B0009020202020204" pitchFamily="49" charset="0"/>
              </a:rPr>
              <a:t>$173.52</a:t>
            </a:r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Mean Volume: </a:t>
            </a:r>
            <a:r>
              <a:rPr lang="en-US" sz="1100" b="1" dirty="0">
                <a:latin typeface="Aptos Mono" panose="020B0009020202020204" pitchFamily="49" charset="0"/>
              </a:rPr>
              <a:t>8.2M</a:t>
            </a:r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Std Dev (Close): </a:t>
            </a:r>
            <a:r>
              <a:rPr lang="en-US" sz="1100" b="1" dirty="0">
                <a:latin typeface="Aptos Mono" panose="020B0009020202020204" pitchFamily="49" charset="0"/>
              </a:rPr>
              <a:t>2.71</a:t>
            </a:r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Daily Return Range: </a:t>
            </a:r>
            <a:r>
              <a:rPr lang="en-US" sz="1100" b="1" dirty="0">
                <a:latin typeface="Aptos Mono" panose="020B0009020202020204" pitchFamily="49" charset="0"/>
              </a:rPr>
              <a:t>−1.23% to +1.34%</a:t>
            </a:r>
            <a:endParaRPr lang="en-US" sz="1100" dirty="0">
              <a:latin typeface="Aptos Mono" panose="020B000902020202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929733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1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1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7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12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34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4600"/>
                            </p:stCondLst>
                            <p:childTnLst>
                              <p:par>
                                <p:cTn id="4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800"/>
                            </p:stCondLst>
                            <p:childTnLst>
                              <p:par>
                                <p:cTn id="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8700"/>
                            </p:stCondLst>
                            <p:childTnLst>
                              <p:par>
                                <p:cTn id="5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200"/>
                            </p:stCondLst>
                            <p:childTnLst>
                              <p:par>
                                <p:cTn id="5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1600"/>
                            </p:stCondLst>
                            <p:childTnLst>
                              <p:par>
                                <p:cTn id="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3000"/>
                            </p:stCondLst>
                            <p:childTnLst>
                              <p:par>
                                <p:cTn id="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10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4300"/>
                            </p:stCondLst>
                            <p:childTnLst>
                              <p:par>
                                <p:cTn id="6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10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800"/>
                            </p:stCondLst>
                            <p:childTnLst>
                              <p:par>
                                <p:cTn id="7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10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6D3C96-50E2-7CC9-9BF5-ACB49C560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DDA8CE9-E0A6-4FF2-823D-D0860760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195564-33B9-434B-9641-764F5905A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D18C537-E336-47C4-836B-C342A230F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52475" y="1"/>
            <a:ext cx="4262009" cy="2602764"/>
            <a:chOff x="6867015" y="-1"/>
            <a:chExt cx="5324985" cy="3251912"/>
          </a:xfrm>
          <a:solidFill>
            <a:schemeClr val="accent5">
              <a:alpha val="5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81F97D2-9A0D-4CA5-B9AF-27B558BCF1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678A47C-892D-47C9-A5D8-F8860B1B0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9E8FDFA-59ED-4D6F-BA20-10CDF8436C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958D9A5-8003-4D92-8C05-787C630F7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1259D8-0C3A-4069-A22F-537BBBB61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60995" y="62352"/>
            <a:ext cx="6028697" cy="6795648"/>
            <a:chOff x="6160995" y="62352"/>
            <a:chExt cx="6028697" cy="6795648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90700B4-CEB5-450F-9EA7-95E355B50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82080" y="81632"/>
              <a:ext cx="6007612" cy="6776368"/>
            </a:xfrm>
            <a:custGeom>
              <a:avLst/>
              <a:gdLst>
                <a:gd name="connsiteX0" fmla="*/ 4493599 w 6007612"/>
                <a:gd name="connsiteY0" fmla="*/ 0 h 6797829"/>
                <a:gd name="connsiteX1" fmla="*/ 5981837 w 6007612"/>
                <a:gd name="connsiteY1" fmla="*/ 314220 h 6797829"/>
                <a:gd name="connsiteX2" fmla="*/ 6007612 w 6007612"/>
                <a:gd name="connsiteY2" fmla="*/ 327088 h 6797829"/>
                <a:gd name="connsiteX3" fmla="*/ 6007612 w 6007612"/>
                <a:gd name="connsiteY3" fmla="*/ 1316637 h 6797829"/>
                <a:gd name="connsiteX4" fmla="*/ 5852405 w 6007612"/>
                <a:gd name="connsiteY4" fmla="*/ 1209899 h 6797829"/>
                <a:gd name="connsiteX5" fmla="*/ 5622498 w 6007612"/>
                <a:gd name="connsiteY5" fmla="*/ 1086619 h 6797829"/>
                <a:gd name="connsiteX6" fmla="*/ 4493032 w 6007612"/>
                <a:gd name="connsiteY6" fmla="*/ 851533 h 6797829"/>
                <a:gd name="connsiteX7" fmla="*/ 3155579 w 6007612"/>
                <a:gd name="connsiteY7" fmla="*/ 1108326 h 6797829"/>
                <a:gd name="connsiteX8" fmla="*/ 1963832 w 6007612"/>
                <a:gd name="connsiteY8" fmla="*/ 1817700 h 6797829"/>
                <a:gd name="connsiteX9" fmla="*/ 1144646 w 6007612"/>
                <a:gd name="connsiteY9" fmla="*/ 2832814 h 6797829"/>
                <a:gd name="connsiteX10" fmla="*/ 851249 w 6007612"/>
                <a:gd name="connsiteY10" fmla="*/ 3998599 h 6797829"/>
                <a:gd name="connsiteX11" fmla="*/ 1336319 w 6007612"/>
                <a:gd name="connsiteY11" fmla="*/ 5057837 h 6797829"/>
                <a:gd name="connsiteX12" fmla="*/ 1597084 w 6007612"/>
                <a:gd name="connsiteY12" fmla="*/ 5424583 h 6797829"/>
                <a:gd name="connsiteX13" fmla="*/ 2591910 w 6007612"/>
                <a:gd name="connsiteY13" fmla="*/ 6440122 h 6797829"/>
                <a:gd name="connsiteX14" fmla="*/ 3899854 w 6007612"/>
                <a:gd name="connsiteY14" fmla="*/ 6780621 h 6797829"/>
                <a:gd name="connsiteX15" fmla="*/ 4741172 w 6007612"/>
                <a:gd name="connsiteY15" fmla="*/ 6563979 h 6797829"/>
                <a:gd name="connsiteX16" fmla="*/ 5649171 w 6007612"/>
                <a:gd name="connsiteY16" fmla="*/ 5938452 h 6797829"/>
                <a:gd name="connsiteX17" fmla="*/ 5873475 w 6007612"/>
                <a:gd name="connsiteY17" fmla="*/ 5764656 h 6797829"/>
                <a:gd name="connsiteX18" fmla="*/ 6007612 w 6007612"/>
                <a:gd name="connsiteY18" fmla="*/ 5660343 h 6797829"/>
                <a:gd name="connsiteX19" fmla="*/ 6007612 w 6007612"/>
                <a:gd name="connsiteY19" fmla="*/ 6737454 h 6797829"/>
                <a:gd name="connsiteX20" fmla="*/ 5929386 w 6007612"/>
                <a:gd name="connsiteY20" fmla="*/ 6797829 h 6797829"/>
                <a:gd name="connsiteX21" fmla="*/ 1656512 w 6007612"/>
                <a:gd name="connsiteY21" fmla="*/ 6797829 h 6797829"/>
                <a:gd name="connsiteX22" fmla="*/ 1630254 w 6007612"/>
                <a:gd name="connsiteY22" fmla="*/ 6775222 h 6797829"/>
                <a:gd name="connsiteX23" fmla="*/ 892250 w 6007612"/>
                <a:gd name="connsiteY23" fmla="*/ 5902700 h 6797829"/>
                <a:gd name="connsiteX24" fmla="*/ 0 w 6007612"/>
                <a:gd name="connsiteY24" fmla="*/ 3998599 h 6797829"/>
                <a:gd name="connsiteX25" fmla="*/ 4493032 w 6007612"/>
                <a:gd name="connsiteY25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007612" h="6797829"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07612" y="327088"/>
                  </a:lnTo>
                  <a:lnTo>
                    <a:pt x="6007612" y="1316637"/>
                  </a:lnTo>
                  <a:lnTo>
                    <a:pt x="5852405" y="1209899"/>
                  </a:lnTo>
                  <a:cubicBezTo>
                    <a:pt x="5778266" y="1164709"/>
                    <a:pt x="5701526" y="1123535"/>
                    <a:pt x="5622498" y="1086619"/>
                  </a:cubicBezTo>
                  <a:cubicBezTo>
                    <a:pt x="5286822" y="930699"/>
                    <a:pt x="4906882" y="851533"/>
                    <a:pt x="4493032" y="851533"/>
                  </a:cubicBezTo>
                  <a:cubicBezTo>
                    <a:pt x="4056201" y="851533"/>
                    <a:pt x="3593263" y="940631"/>
                    <a:pt x="3155579" y="1108326"/>
                  </a:cubicBezTo>
                  <a:cubicBezTo>
                    <a:pt x="2721215" y="1275979"/>
                    <a:pt x="2318305" y="1515819"/>
                    <a:pt x="1963832" y="1817700"/>
                  </a:cubicBezTo>
                  <a:cubicBezTo>
                    <a:pt x="1617657" y="2114360"/>
                    <a:pt x="1334332" y="2465358"/>
                    <a:pt x="1144646" y="2832814"/>
                  </a:cubicBezTo>
                  <a:cubicBezTo>
                    <a:pt x="950561" y="3210060"/>
                    <a:pt x="851249" y="3602202"/>
                    <a:pt x="851249" y="3998599"/>
                  </a:cubicBezTo>
                  <a:cubicBezTo>
                    <a:pt x="851249" y="4377547"/>
                    <a:pt x="999792" y="4597311"/>
                    <a:pt x="1336319" y="5057837"/>
                  </a:cubicBezTo>
                  <a:cubicBezTo>
                    <a:pt x="1420450" y="5173181"/>
                    <a:pt x="1507419" y="5292497"/>
                    <a:pt x="1597084" y="5424583"/>
                  </a:cubicBezTo>
                  <a:cubicBezTo>
                    <a:pt x="1914175" y="5891917"/>
                    <a:pt x="2239493" y="6224189"/>
                    <a:pt x="2591910" y="6440122"/>
                  </a:cubicBezTo>
                  <a:cubicBezTo>
                    <a:pt x="2965467" y="6669393"/>
                    <a:pt x="3393219" y="6780621"/>
                    <a:pt x="3899854" y="6780621"/>
                  </a:cubicBezTo>
                  <a:cubicBezTo>
                    <a:pt x="4187861" y="6780621"/>
                    <a:pt x="4454583" y="6711812"/>
                    <a:pt x="4741172" y="6563979"/>
                  </a:cubicBezTo>
                  <a:cubicBezTo>
                    <a:pt x="5034852" y="6412173"/>
                    <a:pt x="5326263" y="6190848"/>
                    <a:pt x="5649171" y="5938452"/>
                  </a:cubicBezTo>
                  <a:cubicBezTo>
                    <a:pt x="5724931" y="5879291"/>
                    <a:pt x="5800409" y="5821406"/>
                    <a:pt x="5873475" y="5764656"/>
                  </a:cubicBezTo>
                  <a:lnTo>
                    <a:pt x="6007612" y="5660343"/>
                  </a:lnTo>
                  <a:lnTo>
                    <a:pt x="6007612" y="6737454"/>
                  </a:lnTo>
                  <a:lnTo>
                    <a:pt x="5929386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582300F-F646-4FC3-94FC-0582F4B5E0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0995" y="62352"/>
              <a:ext cx="6028697" cy="6795648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BB8E8B8-1900-4326-8858-F375F5D8A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3721" y="81632"/>
              <a:ext cx="6025971" cy="6776368"/>
            </a:xfrm>
            <a:custGeom>
              <a:avLst/>
              <a:gdLst>
                <a:gd name="connsiteX0" fmla="*/ 6025971 w 6025971"/>
                <a:gd name="connsiteY0" fmla="*/ 5825635 h 6797829"/>
                <a:gd name="connsiteX1" fmla="*/ 6025971 w 6025971"/>
                <a:gd name="connsiteY1" fmla="*/ 6723285 h 6797829"/>
                <a:gd name="connsiteX2" fmla="*/ 5929386 w 6025971"/>
                <a:gd name="connsiteY2" fmla="*/ 6797829 h 6797829"/>
                <a:gd name="connsiteX3" fmla="*/ 4560411 w 6025971"/>
                <a:gd name="connsiteY3" fmla="*/ 6797829 h 6797829"/>
                <a:gd name="connsiteX4" fmla="*/ 4597731 w 6025971"/>
                <a:gd name="connsiteY4" fmla="*/ 6785305 h 6797829"/>
                <a:gd name="connsiteX5" fmla="*/ 5736707 w 6025971"/>
                <a:gd name="connsiteY5" fmla="*/ 6050108 h 6797829"/>
                <a:gd name="connsiteX6" fmla="*/ 5960301 w 6025971"/>
                <a:gd name="connsiteY6" fmla="*/ 5876738 h 6797829"/>
                <a:gd name="connsiteX7" fmla="*/ 4493599 w 6025971"/>
                <a:gd name="connsiteY7" fmla="*/ 0 h 6797829"/>
                <a:gd name="connsiteX8" fmla="*/ 5981837 w 6025971"/>
                <a:gd name="connsiteY8" fmla="*/ 314220 h 6797829"/>
                <a:gd name="connsiteX9" fmla="*/ 6025971 w 6025971"/>
                <a:gd name="connsiteY9" fmla="*/ 336254 h 6797829"/>
                <a:gd name="connsiteX10" fmla="*/ 6025971 w 6025971"/>
                <a:gd name="connsiteY10" fmla="*/ 1157325 h 6797829"/>
                <a:gd name="connsiteX11" fmla="*/ 5925889 w 6025971"/>
                <a:gd name="connsiteY11" fmla="*/ 1088522 h 6797829"/>
                <a:gd name="connsiteX12" fmla="*/ 5682227 w 6025971"/>
                <a:gd name="connsiteY12" fmla="*/ 957939 h 6797829"/>
                <a:gd name="connsiteX13" fmla="*/ 4493032 w 6025971"/>
                <a:gd name="connsiteY13" fmla="*/ 709658 h 6797829"/>
                <a:gd name="connsiteX14" fmla="*/ 3104646 w 6025971"/>
                <a:gd name="connsiteY14" fmla="*/ 976666 h 6797829"/>
                <a:gd name="connsiteX15" fmla="*/ 1871612 w 6025971"/>
                <a:gd name="connsiteY15" fmla="*/ 1710017 h 6797829"/>
                <a:gd name="connsiteX16" fmla="*/ 1018661 w 6025971"/>
                <a:gd name="connsiteY16" fmla="*/ 2767694 h 6797829"/>
                <a:gd name="connsiteX17" fmla="*/ 709374 w 6025971"/>
                <a:gd name="connsiteY17" fmla="*/ 3998599 h 6797829"/>
                <a:gd name="connsiteX18" fmla="*/ 1221258 w 6025971"/>
                <a:gd name="connsiteY18" fmla="*/ 5141684 h 6797829"/>
                <a:gd name="connsiteX19" fmla="*/ 1479187 w 6025971"/>
                <a:gd name="connsiteY19" fmla="*/ 5504459 h 6797829"/>
                <a:gd name="connsiteX20" fmla="*/ 3021272 w 6025971"/>
                <a:gd name="connsiteY20" fmla="*/ 6793670 h 6797829"/>
                <a:gd name="connsiteX21" fmla="*/ 3035805 w 6025971"/>
                <a:gd name="connsiteY21" fmla="*/ 6797829 h 6797829"/>
                <a:gd name="connsiteX22" fmla="*/ 1656512 w 6025971"/>
                <a:gd name="connsiteY22" fmla="*/ 6797829 h 6797829"/>
                <a:gd name="connsiteX23" fmla="*/ 1630254 w 6025971"/>
                <a:gd name="connsiteY23" fmla="*/ 6775222 h 6797829"/>
                <a:gd name="connsiteX24" fmla="*/ 892250 w 6025971"/>
                <a:gd name="connsiteY24" fmla="*/ 5902700 h 6797829"/>
                <a:gd name="connsiteX25" fmla="*/ 0 w 6025971"/>
                <a:gd name="connsiteY25" fmla="*/ 3998599 h 6797829"/>
                <a:gd name="connsiteX26" fmla="*/ 4493032 w 6025971"/>
                <a:gd name="connsiteY26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25971" h="6797829">
                  <a:moveTo>
                    <a:pt x="6025971" y="5825635"/>
                  </a:moveTo>
                  <a:lnTo>
                    <a:pt x="6025971" y="6723285"/>
                  </a:lnTo>
                  <a:lnTo>
                    <a:pt x="5929386" y="6797829"/>
                  </a:lnTo>
                  <a:lnTo>
                    <a:pt x="4560411" y="6797829"/>
                  </a:lnTo>
                  <a:lnTo>
                    <a:pt x="4597731" y="6785305"/>
                  </a:lnTo>
                  <a:cubicBezTo>
                    <a:pt x="4964953" y="6637825"/>
                    <a:pt x="5315251" y="6379435"/>
                    <a:pt x="5736707" y="6050108"/>
                  </a:cubicBezTo>
                  <a:cubicBezTo>
                    <a:pt x="5812043" y="5991230"/>
                    <a:pt x="5887377" y="5933488"/>
                    <a:pt x="5960301" y="5876738"/>
                  </a:cubicBezTo>
                  <a:close/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25971" y="336254"/>
                  </a:lnTo>
                  <a:lnTo>
                    <a:pt x="6025971" y="1157325"/>
                  </a:lnTo>
                  <a:lnTo>
                    <a:pt x="5925889" y="1088522"/>
                  </a:lnTo>
                  <a:cubicBezTo>
                    <a:pt x="5847314" y="1040649"/>
                    <a:pt x="5765982" y="997036"/>
                    <a:pt x="5682227" y="957939"/>
                  </a:cubicBezTo>
                  <a:cubicBezTo>
                    <a:pt x="5327823" y="793222"/>
                    <a:pt x="4927595" y="709658"/>
                    <a:pt x="4493032" y="709658"/>
                  </a:cubicBezTo>
                  <a:cubicBezTo>
                    <a:pt x="4031940" y="709658"/>
                    <a:pt x="3564888" y="799465"/>
                    <a:pt x="3104646" y="976666"/>
                  </a:cubicBezTo>
                  <a:cubicBezTo>
                    <a:pt x="2655243" y="1149867"/>
                    <a:pt x="2238358" y="1397822"/>
                    <a:pt x="1871612" y="1710017"/>
                  </a:cubicBezTo>
                  <a:cubicBezTo>
                    <a:pt x="1506427" y="2022852"/>
                    <a:pt x="1219414" y="2378815"/>
                    <a:pt x="1018661" y="2767694"/>
                  </a:cubicBezTo>
                  <a:cubicBezTo>
                    <a:pt x="813368" y="3165227"/>
                    <a:pt x="709374" y="3579358"/>
                    <a:pt x="709374" y="3998599"/>
                  </a:cubicBezTo>
                  <a:cubicBezTo>
                    <a:pt x="709374" y="4421103"/>
                    <a:pt x="875510" y="4667680"/>
                    <a:pt x="1221258" y="5141684"/>
                  </a:cubicBezTo>
                  <a:cubicBezTo>
                    <a:pt x="1304681" y="5256035"/>
                    <a:pt x="1390941" y="5374217"/>
                    <a:pt x="1479187" y="5504459"/>
                  </a:cubicBezTo>
                  <a:cubicBezTo>
                    <a:pt x="1942790" y="6187719"/>
                    <a:pt x="2430063" y="6601673"/>
                    <a:pt x="3021272" y="6793670"/>
                  </a:cubicBezTo>
                  <a:lnTo>
                    <a:pt x="3035805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02C9C1D-3CAC-CA1A-CB5E-805C788B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721" y="226043"/>
            <a:ext cx="5903939" cy="31441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2000" kern="1200" dirty="0">
                <a:solidFill>
                  <a:schemeClr val="tx2"/>
                </a:solidFill>
                <a:latin typeface="Aptos Mono" panose="020B0009020202020204" pitchFamily="49" charset="0"/>
              </a:rPr>
              <a:t>System Architecture – START Framework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2E8431-D5D6-15F7-446E-7CE69EDC06E4}"/>
              </a:ext>
            </a:extLst>
          </p:cNvPr>
          <p:cNvSpPr txBox="1"/>
          <p:nvPr/>
        </p:nvSpPr>
        <p:spPr>
          <a:xfrm>
            <a:off x="669684" y="723993"/>
            <a:ext cx="5184466" cy="5907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1. Data Ingestion Layer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Alpaca/</a:t>
            </a:r>
            <a:r>
              <a:rPr lang="en-US" sz="1100" dirty="0" err="1">
                <a:latin typeface="Aptos Mono" panose="020B0009020202020204" pitchFamily="49" charset="0"/>
              </a:rPr>
              <a:t>Tradier</a:t>
            </a:r>
            <a:r>
              <a:rPr lang="en-US" sz="1100" dirty="0">
                <a:latin typeface="Aptos Mono" panose="020B0009020202020204" pitchFamily="49" charset="0"/>
              </a:rPr>
              <a:t> API → Raw 5-min data (AAPL, TSLA, etc.)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2. Feature Engineering Module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Compute indicators (MACD, RSI, VWAP)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Rolling stats, log returns, etc.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3. ML Pipeline 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Train/test split 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Linear Regression, 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LSTM models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Prediction of next-bar returns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4. (Planned) RL Agent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Decision logic (Buy / Sell / Hold)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PPO / DQN agent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Reward = Profitability, Sharpe ratio, etc.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5. (Planned) Sentiment Analysis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Ingest Reddit, Twitter, SEC filings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Score via LLMs (</a:t>
            </a:r>
            <a:r>
              <a:rPr lang="en-US" sz="1100" dirty="0" err="1">
                <a:latin typeface="Aptos Mono" panose="020B0009020202020204" pitchFamily="49" charset="0"/>
              </a:rPr>
              <a:t>Mixtral</a:t>
            </a:r>
            <a:r>
              <a:rPr lang="en-US" sz="1100" dirty="0">
                <a:latin typeface="Aptos Mono" panose="020B0009020202020204" pitchFamily="49" charset="0"/>
              </a:rPr>
              <a:t>, Mistral)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Fuse into model signals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6. </a:t>
            </a:r>
            <a:r>
              <a:rPr lang="en-US" sz="1100" dirty="0" err="1">
                <a:latin typeface="Aptos Mono" panose="020B0009020202020204" pitchFamily="49" charset="0"/>
              </a:rPr>
              <a:t>Backtesting</a:t>
            </a:r>
            <a:r>
              <a:rPr lang="en-US" sz="1100" dirty="0">
                <a:latin typeface="Aptos Mono" panose="020B0009020202020204" pitchFamily="49" charset="0"/>
              </a:rPr>
              <a:t> Engine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Simulated trading (</a:t>
            </a:r>
            <a:r>
              <a:rPr lang="en-US" sz="1100" dirty="0" err="1">
                <a:latin typeface="Aptos Mono" panose="020B0009020202020204" pitchFamily="49" charset="0"/>
              </a:rPr>
              <a:t>PnL</a:t>
            </a:r>
            <a:r>
              <a:rPr lang="en-US" sz="1100" dirty="0">
                <a:latin typeface="Aptos Mono" panose="020B0009020202020204" pitchFamily="49" charset="0"/>
              </a:rPr>
              <a:t>, drawdown, cost)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Result storage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7. Visualization Layer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latin typeface="Aptos Mono" panose="020B0009020202020204" pitchFamily="49" charset="0"/>
              </a:rPr>
              <a:t>Plots, metrics, dashboards (matplotlib, seaborn, </a:t>
            </a:r>
            <a:r>
              <a:rPr lang="en-US" sz="1100" dirty="0" err="1">
                <a:latin typeface="Aptos Mono" panose="020B0009020202020204" pitchFamily="49" charset="0"/>
              </a:rPr>
              <a:t>Plotly</a:t>
            </a:r>
            <a:r>
              <a:rPr lang="en-US" sz="1100" dirty="0">
                <a:latin typeface="Aptos Mono" panose="020B0009020202020204" pitchFamily="49" charset="0"/>
              </a:rPr>
              <a:t>)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D57E107-3E44-CA76-EBAB-49C138609DE5}"/>
              </a:ext>
            </a:extLst>
          </p:cNvPr>
          <p:cNvSpPr/>
          <p:nvPr/>
        </p:nvSpPr>
        <p:spPr>
          <a:xfrm>
            <a:off x="9176877" y="1612769"/>
            <a:ext cx="1253379" cy="301894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528BD0B5-E266-F6EC-618E-64739A1824D3}"/>
              </a:ext>
            </a:extLst>
          </p:cNvPr>
          <p:cNvSpPr/>
          <p:nvPr/>
        </p:nvSpPr>
        <p:spPr>
          <a:xfrm>
            <a:off x="9028176" y="2173248"/>
            <a:ext cx="1535687" cy="405360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E11610C7-0C10-33E4-3BF5-C3787AFDE194}"/>
              </a:ext>
            </a:extLst>
          </p:cNvPr>
          <p:cNvSpPr/>
          <p:nvPr/>
        </p:nvSpPr>
        <p:spPr>
          <a:xfrm>
            <a:off x="9176877" y="2816424"/>
            <a:ext cx="1253379" cy="296315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052661A8-F74F-B55C-297A-250EA4E598EB}"/>
              </a:ext>
            </a:extLst>
          </p:cNvPr>
          <p:cNvSpPr/>
          <p:nvPr/>
        </p:nvSpPr>
        <p:spPr>
          <a:xfrm>
            <a:off x="8189485" y="3545341"/>
            <a:ext cx="987392" cy="288497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7C1A467D-5B0D-9BF1-D298-F65AF882B828}"/>
              </a:ext>
            </a:extLst>
          </p:cNvPr>
          <p:cNvSpPr/>
          <p:nvPr/>
        </p:nvSpPr>
        <p:spPr>
          <a:xfrm>
            <a:off x="10372490" y="3545342"/>
            <a:ext cx="1204176" cy="338554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78E37D10-6139-145B-11AA-AC033191E69E}"/>
              </a:ext>
            </a:extLst>
          </p:cNvPr>
          <p:cNvSpPr/>
          <p:nvPr/>
        </p:nvSpPr>
        <p:spPr>
          <a:xfrm>
            <a:off x="9382513" y="4231870"/>
            <a:ext cx="1031873" cy="338554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BEEAC78-DBAD-D6C2-39EF-DFB7CE1407D6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9803567" y="1914663"/>
            <a:ext cx="4891" cy="274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22715EC-4A8F-C9C0-3583-4B6B9A46EB12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9796020" y="2578608"/>
            <a:ext cx="7547" cy="237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08C486A0-BCE7-D9BC-33F2-A29C2A2F7C4B}"/>
              </a:ext>
            </a:extLst>
          </p:cNvPr>
          <p:cNvSpPr txBox="1"/>
          <p:nvPr/>
        </p:nvSpPr>
        <p:spPr>
          <a:xfrm>
            <a:off x="9243374" y="1648300"/>
            <a:ext cx="112684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Alpaca/</a:t>
            </a:r>
            <a:r>
              <a:rPr lang="en-US" sz="900" dirty="0" err="1"/>
              <a:t>Tradier</a:t>
            </a:r>
            <a:r>
              <a:rPr lang="en-US" sz="900" dirty="0"/>
              <a:t> API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C0E8BD-3A18-9B0C-AE01-66F3104A005A}"/>
              </a:ext>
            </a:extLst>
          </p:cNvPr>
          <p:cNvSpPr txBox="1"/>
          <p:nvPr/>
        </p:nvSpPr>
        <p:spPr>
          <a:xfrm>
            <a:off x="9089135" y="2205362"/>
            <a:ext cx="14320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Feature Engineering</a:t>
            </a:r>
            <a:br>
              <a:rPr lang="en-US" sz="800" dirty="0"/>
            </a:br>
            <a:r>
              <a:rPr lang="en-US" sz="800" dirty="0"/>
              <a:t>(MACD, RSI, VWAP, Returns)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293E191-F442-02A1-A626-0F6C9BB237E3}"/>
              </a:ext>
            </a:extLst>
          </p:cNvPr>
          <p:cNvSpPr txBox="1"/>
          <p:nvPr/>
        </p:nvSpPr>
        <p:spPr>
          <a:xfrm>
            <a:off x="9226233" y="2856859"/>
            <a:ext cx="1204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ML Models (Reg, LSTM)</a:t>
            </a:r>
          </a:p>
        </p:txBody>
      </p: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308D9B2F-FE8A-90F1-C57E-F76D2A75934B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 rot="5400000">
            <a:off x="9027073" y="2768847"/>
            <a:ext cx="432602" cy="11203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74C85A93-474E-CFC8-B631-654F60471FEA}"/>
              </a:ext>
            </a:extLst>
          </p:cNvPr>
          <p:cNvCxnSpPr>
            <a:cxnSpLocks/>
            <a:stCxn id="58" idx="2"/>
            <a:endCxn id="60" idx="0"/>
          </p:cNvCxnSpPr>
          <p:nvPr/>
        </p:nvCxnSpPr>
        <p:spPr>
          <a:xfrm rot="16200000" flipH="1">
            <a:off x="10172771" y="2743534"/>
            <a:ext cx="432603" cy="117101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47CFD1A-69C5-4252-9CD1-B5151B08B649}"/>
              </a:ext>
            </a:extLst>
          </p:cNvPr>
          <p:cNvSpPr txBox="1"/>
          <p:nvPr/>
        </p:nvSpPr>
        <p:spPr>
          <a:xfrm>
            <a:off x="8140187" y="3591508"/>
            <a:ext cx="11031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RL Agent (PPO/DQN)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7284EAE-8E36-82A5-9713-F35A4C194B75}"/>
              </a:ext>
            </a:extLst>
          </p:cNvPr>
          <p:cNvSpPr txBox="1"/>
          <p:nvPr/>
        </p:nvSpPr>
        <p:spPr>
          <a:xfrm>
            <a:off x="10563863" y="3564622"/>
            <a:ext cx="9412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Sentiment Model</a:t>
            </a:r>
            <a:br>
              <a:rPr lang="en-US" sz="800" dirty="0"/>
            </a:br>
            <a:r>
              <a:rPr lang="en-US" sz="800" dirty="0"/>
              <a:t>LLM based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DBAA77B-9E83-BB7E-39FC-64707B82F657}"/>
              </a:ext>
            </a:extLst>
          </p:cNvPr>
          <p:cNvSpPr txBox="1"/>
          <p:nvPr/>
        </p:nvSpPr>
        <p:spPr>
          <a:xfrm>
            <a:off x="9448839" y="4305617"/>
            <a:ext cx="9236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Signal Generator</a:t>
            </a:r>
          </a:p>
        </p:txBody>
      </p: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843347A0-9301-58FD-46F9-20D078960402}"/>
              </a:ext>
            </a:extLst>
          </p:cNvPr>
          <p:cNvCxnSpPr>
            <a:cxnSpLocks/>
          </p:cNvCxnSpPr>
          <p:nvPr/>
        </p:nvCxnSpPr>
        <p:spPr>
          <a:xfrm rot="5400000">
            <a:off x="10302129" y="3499496"/>
            <a:ext cx="328694" cy="1136055"/>
          </a:xfrm>
          <a:prstGeom prst="bentConnector3">
            <a:avLst>
              <a:gd name="adj1" fmla="val 37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9403B9EF-876D-5D45-55CB-F8274540B7C7}"/>
              </a:ext>
            </a:extLst>
          </p:cNvPr>
          <p:cNvCxnSpPr>
            <a:cxnSpLocks/>
            <a:stCxn id="59" idx="2"/>
            <a:endCxn id="61" idx="0"/>
          </p:cNvCxnSpPr>
          <p:nvPr/>
        </p:nvCxnSpPr>
        <p:spPr>
          <a:xfrm rot="16200000" flipH="1">
            <a:off x="9091799" y="3425219"/>
            <a:ext cx="398032" cy="1215269"/>
          </a:xfrm>
          <a:prstGeom prst="bentConnector3">
            <a:avLst>
              <a:gd name="adj1" fmla="val 4693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8D914924-33B4-2A3A-C528-E101792545EC}"/>
              </a:ext>
            </a:extLst>
          </p:cNvPr>
          <p:cNvSpPr/>
          <p:nvPr/>
        </p:nvSpPr>
        <p:spPr>
          <a:xfrm>
            <a:off x="9384907" y="4863619"/>
            <a:ext cx="1031873" cy="338554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768C08ED-4E0A-B081-36FB-220E368F0EC3}"/>
              </a:ext>
            </a:extLst>
          </p:cNvPr>
          <p:cNvSpPr/>
          <p:nvPr/>
        </p:nvSpPr>
        <p:spPr>
          <a:xfrm>
            <a:off x="9386595" y="5517352"/>
            <a:ext cx="1031873" cy="338554"/>
          </a:xfrm>
          <a:prstGeom prst="roundRect">
            <a:avLst/>
          </a:prstGeom>
          <a:noFill/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3D68BC6-0D27-C751-D744-421367C39EC7}"/>
              </a:ext>
            </a:extLst>
          </p:cNvPr>
          <p:cNvSpPr txBox="1"/>
          <p:nvPr/>
        </p:nvSpPr>
        <p:spPr>
          <a:xfrm>
            <a:off x="9462463" y="4914723"/>
            <a:ext cx="8963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 err="1"/>
              <a:t>Backtest</a:t>
            </a:r>
            <a:r>
              <a:rPr lang="en-US" sz="800" dirty="0"/>
              <a:t> Engine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4178548-943C-2C04-6FB9-4A5A74D91E67}"/>
              </a:ext>
            </a:extLst>
          </p:cNvPr>
          <p:cNvSpPr txBox="1"/>
          <p:nvPr/>
        </p:nvSpPr>
        <p:spPr>
          <a:xfrm>
            <a:off x="9497730" y="5569030"/>
            <a:ext cx="8258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Visual Reports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8733FA1B-047D-F5B9-B720-7C5A5E313626}"/>
              </a:ext>
            </a:extLst>
          </p:cNvPr>
          <p:cNvCxnSpPr>
            <a:stCxn id="61" idx="2"/>
            <a:endCxn id="124" idx="0"/>
          </p:cNvCxnSpPr>
          <p:nvPr/>
        </p:nvCxnSpPr>
        <p:spPr>
          <a:xfrm>
            <a:off x="9898450" y="4570424"/>
            <a:ext cx="2394" cy="293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848CAFE-0018-D2D8-F880-7BAFAFA2DFFC}"/>
              </a:ext>
            </a:extLst>
          </p:cNvPr>
          <p:cNvCxnSpPr>
            <a:stCxn id="124" idx="2"/>
            <a:endCxn id="125" idx="0"/>
          </p:cNvCxnSpPr>
          <p:nvPr/>
        </p:nvCxnSpPr>
        <p:spPr>
          <a:xfrm>
            <a:off x="9900844" y="5202173"/>
            <a:ext cx="1688" cy="315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Audio 14">
            <a:extLst>
              <a:ext uri="{FF2B5EF4-FFF2-40B4-BE49-F238E27FC236}">
                <a16:creationId xmlns:a16="http://schemas.microsoft.com/office/drawing/2014/main" id="{53AA77CC-0B87-8B99-EF51-3AA28639EAE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50882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55440">
        <p15:prstTrans prst="pageCurlDouble"/>
      </p:transition>
    </mc:Choice>
    <mc:Fallback xmlns="">
      <p:transition spd="slow" advTm="5544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44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9" dur="2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2" dur="2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5" dur="2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8" dur="2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1" dur="2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4" dur="2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7" dur="2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0" dur="2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2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9" dur="2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2" dur="2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5" dur="2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8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  <p:bldLst>
      <p:bldP spid="2" grpId="0"/>
      <p:bldP spid="9" grpId="0"/>
      <p:bldP spid="41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80" grpId="0"/>
      <p:bldP spid="81" grpId="0"/>
      <p:bldP spid="89" grpId="0"/>
      <p:bldP spid="106" grpId="0"/>
      <p:bldP spid="108" grpId="0"/>
      <p:bldP spid="112" grpId="0"/>
      <p:bldP spid="124" grpId="0" animBg="1"/>
      <p:bldP spid="125" grpId="0" animBg="1"/>
      <p:bldP spid="126" grpId="0"/>
      <p:bldP spid="1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4547E-C9A9-CA6D-280C-85A428DFF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073" y="237744"/>
            <a:ext cx="9833548" cy="369010"/>
          </a:xfrm>
        </p:spPr>
        <p:txBody>
          <a:bodyPr anchor="b">
            <a:normAutofit/>
          </a:bodyPr>
          <a:lstStyle/>
          <a:p>
            <a:pPr lvl="0" algn="ctr" eaLnBrk="0" fontAlgn="base" hangingPunct="0">
              <a:spcAft>
                <a:spcPts val="600"/>
              </a:spcAft>
            </a:pPr>
            <a:r>
              <a:rPr lang="en-US" sz="2000" dirty="0">
                <a:solidFill>
                  <a:schemeClr val="tx2"/>
                </a:solidFill>
                <a:latin typeface="Aptos Mono" panose="020B0009020202020204" pitchFamily="49" charset="0"/>
              </a:rPr>
              <a:t>Methods – START System Workflow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ptos Mono" panose="020B0009020202020204" pitchFamily="49" charset="0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1">
            <a:extLst>
              <a:ext uri="{FF2B5EF4-FFF2-40B4-BE49-F238E27FC236}">
                <a16:creationId xmlns:a16="http://schemas.microsoft.com/office/drawing/2014/main" id="{3392E233-6C2B-5CF5-414C-0B234616019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79074" y="832214"/>
            <a:ext cx="4524390" cy="54161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Workflow Overview: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Data Ingestion &amp; Preprocessing</a:t>
            </a:r>
            <a:endParaRPr 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Collect 5-minute bar data via Alpaca API</a:t>
            </a: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Clean, align, and validate time series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Feature Engineering</a:t>
            </a:r>
            <a:endParaRPr 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Compute MACD, RSI, MA(20,50), VWAP</a:t>
            </a: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Derive % returns, log returns, volatility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Machine Learning Modeling</a:t>
            </a:r>
            <a:endParaRPr 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Train/test split for regression models (e.g., Linear Regression, LSTM planned)</a:t>
            </a: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Forecast short-term return direction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(Planned) Reinforcement Learning Agent</a:t>
            </a:r>
            <a:endParaRPr 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Action space: Buy, Sell, Hold</a:t>
            </a: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Optimize via PPO or DQN using reward functions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(Planned) Sentiment Integration via LLMs</a:t>
            </a:r>
            <a:endParaRPr 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Score sentiment from Reddit, Twitter, filings</a:t>
            </a: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Adjust signal confidence</a:t>
            </a:r>
          </a:p>
          <a:p>
            <a:pPr>
              <a:lnSpc>
                <a:spcPct val="100000"/>
              </a:lnSpc>
            </a:pPr>
            <a:r>
              <a:rPr lang="en-US" sz="1100" b="1" dirty="0" err="1">
                <a:solidFill>
                  <a:schemeClr val="tx2"/>
                </a:solidFill>
                <a:latin typeface="Aptos Mono" panose="020B0009020202020204" pitchFamily="49" charset="0"/>
              </a:rPr>
              <a:t>Backtesting</a:t>
            </a: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 &amp; Simulation</a:t>
            </a:r>
            <a:endParaRPr 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Model </a:t>
            </a:r>
            <a:r>
              <a:rPr lang="en-US" sz="1100" dirty="0" err="1">
                <a:solidFill>
                  <a:schemeClr val="tx2"/>
                </a:solidFill>
                <a:latin typeface="Aptos Mono" panose="020B0009020202020204" pitchFamily="49" charset="0"/>
              </a:rPr>
              <a:t>PnL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 with slippage &amp; transaction cost</a:t>
            </a:r>
          </a:p>
          <a:p>
            <a:pPr lvl="1">
              <a:lnSpc>
                <a:spcPct val="100000"/>
              </a:lnSpc>
            </a:pP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Visualize cumulative returns, Sharpe ratio, drawdowns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Rectangle 1">
            <a:extLst>
              <a:ext uri="{FF2B5EF4-FFF2-40B4-BE49-F238E27FC236}">
                <a16:creationId xmlns:a16="http://schemas.microsoft.com/office/drawing/2014/main" id="{730ED33C-9363-4E67-3DF7-EBCF2BD867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3136" y="841379"/>
            <a:ext cx="4288886" cy="53125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Tools &amp; Libraries: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Data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: Alpaca API, Pandas, NumPy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TA &amp; Features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: TA-Lib, </a:t>
            </a:r>
            <a:r>
              <a:rPr lang="en-US" sz="1100" dirty="0" err="1">
                <a:solidFill>
                  <a:schemeClr val="tx2"/>
                </a:solidFill>
                <a:latin typeface="Aptos Mono" panose="020B0009020202020204" pitchFamily="49" charset="0"/>
              </a:rPr>
              <a:t>yfinance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 (optional)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Modeling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: scikit-learn, (TensorFlow/</a:t>
            </a:r>
            <a:r>
              <a:rPr lang="en-US" sz="1100" dirty="0" err="1">
                <a:solidFill>
                  <a:schemeClr val="tx2"/>
                </a:solidFill>
                <a:latin typeface="Aptos Mono" panose="020B0009020202020204" pitchFamily="49" charset="0"/>
              </a:rPr>
              <a:t>Keras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 – for future LSTM)</a:t>
            </a:r>
          </a:p>
          <a:p>
            <a:pPr>
              <a:lnSpc>
                <a:spcPct val="100000"/>
              </a:lnSpc>
            </a:pPr>
            <a:r>
              <a:rPr lang="en-US" sz="1100" b="1" dirty="0" err="1">
                <a:solidFill>
                  <a:schemeClr val="tx2"/>
                </a:solidFill>
                <a:latin typeface="Aptos Mono" panose="020B0009020202020204" pitchFamily="49" charset="0"/>
              </a:rPr>
              <a:t>Backtesting</a:t>
            </a: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 &amp; Viz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: Matplotlib, seaborn, custom </a:t>
            </a:r>
            <a:r>
              <a:rPr lang="en-US" sz="1100" dirty="0" err="1">
                <a:solidFill>
                  <a:schemeClr val="tx2"/>
                </a:solidFill>
                <a:latin typeface="Aptos Mono" panose="020B0009020202020204" pitchFamily="49" charset="0"/>
              </a:rPr>
              <a:t>backtest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 logic</a:t>
            </a:r>
          </a:p>
          <a:p>
            <a:pPr>
              <a:lnSpc>
                <a:spcPct val="100000"/>
              </a:lnSpc>
            </a:pPr>
            <a:r>
              <a:rPr lang="en-US" sz="1100" b="1" dirty="0">
                <a:solidFill>
                  <a:schemeClr val="tx2"/>
                </a:solidFill>
                <a:latin typeface="Aptos Mono" panose="020B0009020202020204" pitchFamily="49" charset="0"/>
              </a:rPr>
              <a:t>(Planned)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: </a:t>
            </a:r>
            <a:r>
              <a:rPr lang="en-US" sz="1100" dirty="0" err="1">
                <a:solidFill>
                  <a:schemeClr val="tx2"/>
                </a:solidFill>
                <a:latin typeface="Aptos Mono" panose="020B0009020202020204" pitchFamily="49" charset="0"/>
              </a:rPr>
              <a:t>HuggingFace</a:t>
            </a:r>
            <a:r>
              <a:rPr lang="en-US" sz="1100" dirty="0">
                <a:solidFill>
                  <a:schemeClr val="tx2"/>
                </a:solidFill>
                <a:latin typeface="Aptos Mono" panose="020B0009020202020204" pitchFamily="49" charset="0"/>
              </a:rPr>
              <a:t> Transformers (LLM), Stable-Baselines3 (RL)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en-US" alt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57824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500">
        <p15:prstTrans prst="pageCurlDouble"/>
      </p:transition>
    </mc:Choice>
    <mc:Fallback xmlns="">
      <p:transition spd="slow" advClick="0" advTm="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8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600"/>
                            </p:stCondLst>
                            <p:childTnLst>
                              <p:par>
                                <p:cTn id="1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900"/>
                            </p:stCondLst>
                            <p:childTnLst>
                              <p:par>
                                <p:cTn id="1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700"/>
                            </p:stCondLst>
                            <p:childTnLst>
                              <p:par>
                                <p:cTn id="2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850"/>
                            </p:stCondLst>
                            <p:childTnLst>
                              <p:par>
                                <p:cTn id="2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950"/>
                            </p:stCondLst>
                            <p:childTnLst>
                              <p:par>
                                <p:cTn id="3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300"/>
                            </p:stCondLst>
                            <p:childTnLst>
                              <p:par>
                                <p:cTn id="3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250"/>
                            </p:stCondLst>
                            <p:childTnLst>
                              <p:par>
                                <p:cTn id="4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500"/>
                            </p:stCondLst>
                            <p:childTnLst>
                              <p:par>
                                <p:cTn id="4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8100"/>
                            </p:stCondLst>
                            <p:childTnLst>
                              <p:par>
                                <p:cTn id="5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2000"/>
                            </p:stCondLst>
                            <p:childTnLst>
                              <p:par>
                                <p:cTn id="5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4100"/>
                            </p:stCondLst>
                            <p:childTnLst>
                              <p:par>
                                <p:cTn id="6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6300"/>
                            </p:stCondLst>
                            <p:childTnLst>
                              <p:par>
                                <p:cTn id="6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8000"/>
                            </p:stCondLst>
                            <p:childTnLst>
                              <p:par>
                                <p:cTn id="7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0400"/>
                            </p:stCondLst>
                            <p:childTnLst>
                              <p:par>
                                <p:cTn id="7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/>
                                        <p:tgtEl>
                                          <p:spTgt spid="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32650"/>
                            </p:stCondLst>
                            <p:childTnLst>
                              <p:par>
                                <p:cTn id="8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5100"/>
                            </p:stCondLst>
                            <p:childTnLst>
                              <p:par>
                                <p:cTn id="8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3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8" dur="500"/>
                                        <p:tgtEl>
                                          <p:spTgt spid="3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36650"/>
                            </p:stCondLst>
                            <p:childTnLst>
                              <p:par>
                                <p:cTn id="9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/>
                                        <p:tgtEl>
                                          <p:spTgt spid="3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93" dur="500"/>
                                        <p:tgtEl>
                                          <p:spTgt spid="3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38200"/>
                            </p:stCondLst>
                            <p:childTnLst>
                              <p:par>
                                <p:cTn id="95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/>
                                        <p:tgtEl>
                                          <p:spTgt spid="3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3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40450"/>
                            </p:stCondLst>
                            <p:childTnLst>
                              <p:par>
                                <p:cTn id="100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/>
                                        <p:tgtEl>
                                          <p:spTgt spid="3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3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2" presetClass="entr" presetSubtype="2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9" grpId="0" build="p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609C95-5179-340A-8173-1DC92A983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0031" y="492195"/>
            <a:ext cx="4977976" cy="288093"/>
          </a:xfrm>
        </p:spPr>
        <p:txBody>
          <a:bodyPr>
            <a:normAutofit fontScale="90000"/>
          </a:bodyPr>
          <a:lstStyle/>
          <a:p>
            <a:r>
              <a:rPr lang="en-US" sz="2000" dirty="0">
                <a:solidFill>
                  <a:schemeClr val="tx2"/>
                </a:solidFill>
                <a:latin typeface="Aptos Mono" panose="020B0009020202020204" pitchFamily="49" charset="0"/>
              </a:rPr>
              <a:t>Modeling &amp; Algorithms</a:t>
            </a:r>
          </a:p>
        </p:txBody>
      </p:sp>
      <p:pic>
        <p:nvPicPr>
          <p:cNvPr id="15" name="Graphic 14" descr="Statistics">
            <a:extLst>
              <a:ext uri="{FF2B5EF4-FFF2-40B4-BE49-F238E27FC236}">
                <a16:creationId xmlns:a16="http://schemas.microsoft.com/office/drawing/2014/main" id="{BCF80FAC-510E-095A-1F77-F9B53DA4D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92799BB8-9C09-508C-3B83-2D60BF7450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0574" y="967683"/>
            <a:ext cx="5414475" cy="491337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🤖 Machine Learning Models (Implemented)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Linear Regression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</a:t>
            </a:r>
            <a:b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</a:b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Baseline model for predicting next-bar returns.</a:t>
            </a:r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🧪 Machine Learning Models (Implemented)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LSTM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 Sequential deep learning model for learning temporal trends.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CNN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 Intended for learning price chart patterns (experimental phase).</a:t>
            </a:r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🎮 Reinforcement Learning (In progress)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Algorithms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 PPO, DQN (via Stable-Baselines3)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Agent Actions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 Buy, Sell, Hold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Reward Signals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</a:t>
            </a:r>
            <a:b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</a:b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Profitability, Sharpe Ratio, Drawdown Control</a:t>
            </a:r>
          </a:p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💬 LLM-Based Sentiment Analysis (In progress)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Sources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 Twitter, Reddit, Bloomberg, SEC Filings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Tools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 </a:t>
            </a:r>
            <a:r>
              <a:rPr lang="en-US" sz="1200" dirty="0" err="1">
                <a:solidFill>
                  <a:schemeClr val="tx2"/>
                </a:solidFill>
                <a:latin typeface="Aptos Mono" panose="020B0009020202020204" pitchFamily="49" charset="0"/>
              </a:rPr>
              <a:t>HuggingFace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 Transformers (Mistral, </a:t>
            </a:r>
            <a:r>
              <a:rPr lang="en-US" sz="1200" dirty="0" err="1">
                <a:solidFill>
                  <a:schemeClr val="tx2"/>
                </a:solidFill>
                <a:latin typeface="Aptos Mono" panose="020B0009020202020204" pitchFamily="49" charset="0"/>
              </a:rPr>
              <a:t>Mixtral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 – to be integrated)</a:t>
            </a:r>
          </a:p>
          <a:p>
            <a:r>
              <a:rPr lang="en-US" sz="1200" b="1" dirty="0">
                <a:solidFill>
                  <a:schemeClr val="tx2"/>
                </a:solidFill>
                <a:latin typeface="Aptos Mono" panose="020B0009020202020204" pitchFamily="49" charset="0"/>
              </a:rPr>
              <a:t>Purpose</a:t>
            </a:r>
            <a:r>
              <a:rPr lang="en-US" sz="1200" dirty="0">
                <a:solidFill>
                  <a:schemeClr val="tx2"/>
                </a:solidFill>
                <a:latin typeface="Aptos Mono" panose="020B0009020202020204" pitchFamily="49" charset="0"/>
              </a:rPr>
              <a:t>: Adjust model signals based on real-time sentiment score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Audio 5">
            <a:extLst>
              <a:ext uri="{FF2B5EF4-FFF2-40B4-BE49-F238E27FC236}">
                <a16:creationId xmlns:a16="http://schemas.microsoft.com/office/drawing/2014/main" id="{13253789-21AA-613D-06A5-D582B6EFF6F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9023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41340">
        <p15:prstTrans prst="pageCurlDouble"/>
      </p:transition>
    </mc:Choice>
    <mc:Fallback xmlns="">
      <p:transition spd="slow" advTm="4134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900"/>
                            </p:stCondLst>
                            <p:childTnLst>
                              <p:par>
                                <p:cTn id="1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100"/>
                            </p:stCondLst>
                            <p:childTnLst>
                              <p:par>
                                <p:cTn id="19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500"/>
                            </p:stCondLst>
                            <p:childTnLst>
                              <p:par>
                                <p:cTn id="23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700"/>
                            </p:stCondLst>
                            <p:childTnLst>
                              <p:par>
                                <p:cTn id="27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3050"/>
                            </p:stCondLst>
                            <p:childTnLst>
                              <p:par>
                                <p:cTn id="31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550"/>
                            </p:stCondLst>
                            <p:childTnLst>
                              <p:par>
                                <p:cTn id="3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8700"/>
                            </p:stCondLst>
                            <p:childTnLst>
                              <p:par>
                                <p:cTn id="39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150"/>
                            </p:stCondLst>
                            <p:childTnLst>
                              <p:par>
                                <p:cTn id="43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2900"/>
                            </p:stCondLst>
                            <p:childTnLst>
                              <p:par>
                                <p:cTn id="47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6100"/>
                            </p:stCondLst>
                            <p:childTnLst>
                              <p:par>
                                <p:cTn id="51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8500"/>
                            </p:stCondLst>
                            <p:childTnLst>
                              <p:par>
                                <p:cTn id="5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1100"/>
                            </p:stCondLst>
                            <p:childTnLst>
                              <p:par>
                                <p:cTn id="59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4600"/>
                            </p:stCondLst>
                            <p:childTnLst>
                              <p:par>
                                <p:cTn id="63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6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  <p:bldLst>
      <p:bldP spid="2" grpId="0"/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C4F74C-1E6C-AF22-3FD4-BCD12A79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240" y="227742"/>
            <a:ext cx="5997875" cy="556453"/>
          </a:xfrm>
        </p:spPr>
        <p:txBody>
          <a:bodyPr>
            <a:normAutofit fontScale="90000"/>
          </a:bodyPr>
          <a:lstStyle/>
          <a:p>
            <a:r>
              <a:rPr lang="en-US" sz="2000" dirty="0">
                <a:latin typeface="Aptos Mono" panose="020B0009020202020204" pitchFamily="49" charset="0"/>
              </a:rPr>
              <a:t>Preliminary Results – Linear Regression (AAPL)</a:t>
            </a:r>
            <a:endParaRPr lang="en-US" sz="2000" dirty="0">
              <a:solidFill>
                <a:schemeClr val="tx2"/>
              </a:solidFill>
              <a:latin typeface="Aptos Mono" panose="020B0009020202020204" pitchFamily="49" charset="0"/>
            </a:endParaRPr>
          </a:p>
        </p:txBody>
      </p:sp>
      <p:pic>
        <p:nvPicPr>
          <p:cNvPr id="8" name="Graphic 7" descr="Footer">
            <a:extLst>
              <a:ext uri="{FF2B5EF4-FFF2-40B4-BE49-F238E27FC236}">
                <a16:creationId xmlns:a16="http://schemas.microsoft.com/office/drawing/2014/main" id="{81737CED-1F7D-1866-234C-4C5C006FF8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E7872725-FBBA-D9CB-0B50-5BF08D5107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6000" y="868904"/>
            <a:ext cx="5492496" cy="556847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b="1" dirty="0">
                <a:latin typeface="Aptos Mono" panose="020B0009020202020204" pitchFamily="49" charset="0"/>
              </a:rPr>
              <a:t>Model Summary: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latin typeface="Aptos Mono" panose="020B0009020202020204" pitchFamily="49" charset="0"/>
              </a:rPr>
              <a:t>Model</a:t>
            </a:r>
            <a:r>
              <a:rPr lang="en-US" sz="1000" dirty="0">
                <a:latin typeface="Aptos Mono" panose="020B0009020202020204" pitchFamily="49" charset="0"/>
              </a:rPr>
              <a:t>: Linear Regression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latin typeface="Aptos Mono" panose="020B0009020202020204" pitchFamily="49" charset="0"/>
              </a:rPr>
              <a:t>Target</a:t>
            </a:r>
            <a:r>
              <a:rPr lang="en-US" sz="1000" dirty="0">
                <a:latin typeface="Aptos Mono" panose="020B0009020202020204" pitchFamily="49" charset="0"/>
              </a:rPr>
              <a:t>: Next-bar return prediction (5-minute interval)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latin typeface="Aptos Mono" panose="020B0009020202020204" pitchFamily="49" charset="0"/>
              </a:rPr>
              <a:t>Input Features</a:t>
            </a:r>
            <a:r>
              <a:rPr lang="en-US" sz="1000" dirty="0">
                <a:latin typeface="Aptos Mono" panose="020B0009020202020204" pitchFamily="49" charset="0"/>
              </a:rPr>
              <a:t>: MACD, RSI, MA(20/50), VWAP, rolling returns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b="1" dirty="0">
                <a:latin typeface="Aptos Mono" panose="020B0009020202020204" pitchFamily="49" charset="0"/>
              </a:rPr>
              <a:t>Evaluation (Prototype Results):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latin typeface="Aptos Mono" panose="020B0009020202020204" pitchFamily="49" charset="0"/>
              </a:rPr>
              <a:t>R²</a:t>
            </a:r>
            <a:r>
              <a:rPr lang="en-US" sz="1000" dirty="0">
                <a:latin typeface="Aptos Mono" panose="020B0009020202020204" pitchFamily="49" charset="0"/>
              </a:rPr>
              <a:t>: 1.00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latin typeface="Aptos Mono" panose="020B0009020202020204" pitchFamily="49" charset="0"/>
              </a:rPr>
              <a:t>RMSE</a:t>
            </a:r>
            <a:r>
              <a:rPr lang="en-US" sz="1000" dirty="0">
                <a:latin typeface="Aptos Mono" panose="020B0009020202020204" pitchFamily="49" charset="0"/>
              </a:rPr>
              <a:t>: 0.11</a:t>
            </a:r>
          </a:p>
          <a:p>
            <a:pPr>
              <a:lnSpc>
                <a:spcPct val="150000"/>
              </a:lnSpc>
            </a:pPr>
            <a:r>
              <a:rPr lang="en-US" sz="1000" b="1" dirty="0">
                <a:latin typeface="Aptos Mono" panose="020B0009020202020204" pitchFamily="49" charset="0"/>
              </a:rPr>
              <a:t>MAE</a:t>
            </a:r>
            <a:r>
              <a:rPr lang="en-US" sz="1000" dirty="0">
                <a:latin typeface="Aptos Mono" panose="020B0009020202020204" pitchFamily="49" charset="0"/>
              </a:rPr>
              <a:t>: 0.08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b="1" dirty="0">
                <a:latin typeface="Aptos Mono" panose="020B0009020202020204" pitchFamily="49" charset="0"/>
              </a:rPr>
              <a:t>Observations:</a:t>
            </a:r>
          </a:p>
          <a:p>
            <a:pPr algn="just">
              <a:lnSpc>
                <a:spcPct val="150000"/>
              </a:lnSpc>
            </a:pPr>
            <a:r>
              <a:rPr lang="en-US" sz="1000" dirty="0">
                <a:latin typeface="Aptos Mono" panose="020B0009020202020204" pitchFamily="49" charset="0"/>
              </a:rPr>
              <a:t>These results appear overly optimistic and may reflect data leakage or target contamination. Further validation and feature filtering will be addressed during the Capstone phase.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b="1" dirty="0">
                <a:latin typeface="Aptos Mono" panose="020B0009020202020204" pitchFamily="49" charset="0"/>
              </a:rPr>
              <a:t>Technical Indicator Insights: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Aptos Mono" panose="020B0009020202020204" pitchFamily="49" charset="0"/>
              </a:rPr>
              <a:t>📉 MACD crossovers preceded price shifts by 2–3 bars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Aptos Mono" panose="020B0009020202020204" pitchFamily="49" charset="0"/>
              </a:rPr>
              <a:t>📈 RSI flagged overbought/oversold states effectively</a:t>
            </a:r>
          </a:p>
          <a:p>
            <a:pPr>
              <a:lnSpc>
                <a:spcPct val="150000"/>
              </a:lnSpc>
            </a:pPr>
            <a:r>
              <a:rPr lang="en-US" sz="1000" dirty="0">
                <a:latin typeface="Aptos Mono" panose="020B0009020202020204" pitchFamily="49" charset="0"/>
              </a:rPr>
              <a:t>🔊 Volume spikes aligned with breakout or reversal zones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662493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500">
        <p15:prstTrans prst="pageCurlDouble"/>
      </p:transition>
    </mc:Choice>
    <mc:Fallback xmlns="">
      <p:transition spd="slow" advClick="0" advTm="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0"/>
                            </p:stCondLst>
                            <p:childTnLst>
                              <p:par>
                                <p:cTn id="12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2200"/>
                            </p:stCondLst>
                            <p:childTnLst>
                              <p:par>
                                <p:cTn id="16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300"/>
                            </p:stCondLst>
                            <p:childTnLst>
                              <p:par>
                                <p:cTn id="20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1100"/>
                            </p:stCondLst>
                            <p:childTnLst>
                              <p:par>
                                <p:cTn id="24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200"/>
                            </p:stCondLst>
                            <p:childTnLst>
                              <p:par>
                                <p:cTn id="28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1000"/>
                            </p:stCondLst>
                            <p:childTnLst>
                              <p:par>
                                <p:cTn id="32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2600"/>
                            </p:stCondLst>
                            <p:childTnLst>
                              <p:par>
                                <p:cTn id="36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400"/>
                            </p:stCondLst>
                            <p:childTnLst>
                              <p:par>
                                <p:cTn id="40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00"/>
                            </p:stCondLst>
                            <p:childTnLst>
                              <p:par>
                                <p:cTn id="44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8300"/>
                            </p:stCondLst>
                            <p:childTnLst>
                              <p:par>
                                <p:cTn id="48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4600"/>
                            </p:stCondLst>
                            <p:childTnLst>
                              <p:par>
                                <p:cTn id="52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4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8200"/>
                            </p:stCondLst>
                            <p:childTnLst>
                              <p:par>
                                <p:cTn id="56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8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3400"/>
                            </p:stCondLst>
                            <p:childTnLst>
                              <p:par>
                                <p:cTn id="60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2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69000"/>
                            </p:stCondLst>
                            <p:childTnLst>
                              <p:par>
                                <p:cTn id="64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6" dur="10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34BE5C-1AC1-FE57-27DB-AA01D48D8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0574" y="272603"/>
            <a:ext cx="4977976" cy="349189"/>
          </a:xfrm>
        </p:spPr>
        <p:txBody>
          <a:bodyPr>
            <a:normAutofit fontScale="90000"/>
          </a:bodyPr>
          <a:lstStyle/>
          <a:p>
            <a:r>
              <a:rPr lang="en-US" sz="2000" dirty="0">
                <a:latin typeface="Aptos Mono" panose="020B0009020202020204" pitchFamily="49" charset="0"/>
              </a:rPr>
              <a:t>Discussion &amp; Future Work</a:t>
            </a:r>
            <a:endParaRPr lang="en-US" sz="2000" dirty="0">
              <a:solidFill>
                <a:schemeClr val="tx2"/>
              </a:solidFill>
              <a:latin typeface="Aptos Mono" panose="020B0009020202020204" pitchFamily="49" charset="0"/>
            </a:endParaRPr>
          </a:p>
        </p:txBody>
      </p:sp>
      <p:pic>
        <p:nvPicPr>
          <p:cNvPr id="7" name="Graphic 6" descr="Business Growth">
            <a:extLst>
              <a:ext uri="{FF2B5EF4-FFF2-40B4-BE49-F238E27FC236}">
                <a16:creationId xmlns:a16="http://schemas.microsoft.com/office/drawing/2014/main" id="{804B5568-F252-EC0A-7C64-DD1BB6BF80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A2786-5FBF-CBA6-09EE-95696F81B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688848"/>
            <a:ext cx="5522306" cy="5535168"/>
          </a:xfrm>
        </p:spPr>
        <p:txBody>
          <a:bodyPr anchor="ctr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100" b="1" dirty="0">
                <a:latin typeface="Aptos Mono" panose="020B0009020202020204" pitchFamily="49" charset="0"/>
              </a:rPr>
              <a:t>Key Findings: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Technical indicators (MACD, RSI, VWAP) offer meaningful signals — especially when combined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Regression modeling provides early trend insights, but results suggest potential data leakage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Volume shifts are consistent precursors to breakout/exit windows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100" b="1" dirty="0">
                <a:latin typeface="Aptos Mono" panose="020B0009020202020204" pitchFamily="49" charset="0"/>
              </a:rPr>
              <a:t>Planned Enhancements (Capstone Phase):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🎮 Deploy Reinforcement Learning agents (PPO, DQN) with custom reward tuning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💬 Integrate LLM-based sentiment scoring for Twitter, Reddit, and SEC data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🔄 Implement robust </a:t>
            </a:r>
            <a:r>
              <a:rPr lang="en-US" sz="1100" dirty="0" err="1">
                <a:latin typeface="Aptos Mono" panose="020B0009020202020204" pitchFamily="49" charset="0"/>
              </a:rPr>
              <a:t>backtesting</a:t>
            </a:r>
            <a:r>
              <a:rPr lang="en-US" sz="1100" dirty="0">
                <a:latin typeface="Aptos Mono" panose="020B0009020202020204" pitchFamily="49" charset="0"/>
              </a:rPr>
              <a:t> framework with slippage and transaction cost modeling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📊 Expand ticker universe to include NVDA, QQQ, SPY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📈 Evaluate new metrics: Sharpe Ratio, Calmar Ratio, Recovery Factor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🧪 Test performance across market regimes: bull, bear, and sideways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latin typeface="Aptos Mono" panose="020B0009020202020204" pitchFamily="49" charset="0"/>
              </a:rPr>
              <a:t>✅ Validate and harden data pipeline to eliminate future lookahead bias</a:t>
            </a:r>
          </a:p>
          <a:p>
            <a:endParaRPr lang="en-US" sz="1100" dirty="0">
              <a:solidFill>
                <a:schemeClr val="tx2"/>
              </a:solidFill>
              <a:latin typeface="Aptos Mono" panose="020B00090202020202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3" name="Audio 32">
            <a:extLst>
              <a:ext uri="{FF2B5EF4-FFF2-40B4-BE49-F238E27FC236}">
                <a16:creationId xmlns:a16="http://schemas.microsoft.com/office/drawing/2014/main" id="{7D768457-AE60-64E4-F352-12ED467F0EF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0438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42740">
        <p15:prstTrans prst="pageCurlDouble"/>
      </p:transition>
    </mc:Choice>
    <mc:Fallback xmlns="">
      <p:transition spd="slow" advTm="4274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5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45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300"/>
                            </p:stCondLst>
                            <p:childTnLst>
                              <p:par>
                                <p:cTn id="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7500"/>
                            </p:stCondLst>
                            <p:childTnLst>
                              <p:par>
                                <p:cTn id="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1200"/>
                            </p:stCondLst>
                            <p:childTnLst>
                              <p:par>
                                <p:cTn id="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4800"/>
                            </p:stCondLst>
                            <p:childTnLst>
                              <p:par>
                                <p:cTn id="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8950"/>
                            </p:stCondLst>
                            <p:childTnLst>
                              <p:par>
                                <p:cTn id="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1500"/>
                            </p:stCondLst>
                            <p:childTnLst>
                              <p:par>
                                <p:cTn id="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4850"/>
                            </p:stCondLst>
                            <p:childTnLst>
                              <p:par>
                                <p:cTn id="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8150"/>
                            </p:stCondLst>
                            <p:childTnLst>
                              <p:par>
                                <p:cTn id="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6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3"/>
                </p:tgtEl>
              </p:cMediaNode>
            </p:audio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EF2C2-8569-68C6-1236-AD43DBAD0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0574" y="401478"/>
            <a:ext cx="1757543" cy="385765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7030A0"/>
                </a:solidFill>
                <a:latin typeface="Aptos Mono" panose="020B0009020202020204" pitchFamily="49" charset="0"/>
              </a:rPr>
              <a:t>Conclusion</a:t>
            </a:r>
          </a:p>
        </p:txBody>
      </p:sp>
      <p:pic>
        <p:nvPicPr>
          <p:cNvPr id="7" name="Graphic 6" descr="Robot">
            <a:extLst>
              <a:ext uri="{FF2B5EF4-FFF2-40B4-BE49-F238E27FC236}">
                <a16:creationId xmlns:a16="http://schemas.microsoft.com/office/drawing/2014/main" id="{F6D5643C-70E1-296C-4DC4-D89D39387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5FC3-6C75-412D-EAF3-5509240AE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787243"/>
            <a:ext cx="5077298" cy="5320949"/>
          </a:xfrm>
        </p:spPr>
        <p:txBody>
          <a:bodyPr anchor="ctr">
            <a:normAutofit fontScale="77500" lnSpcReduction="20000"/>
          </a:bodyPr>
          <a:lstStyle/>
          <a:p>
            <a:pPr algn="just">
              <a:lnSpc>
                <a:spcPct val="160000"/>
              </a:lnSpc>
            </a:pPr>
            <a:r>
              <a:rPr lang="en-US" sz="1800" dirty="0">
                <a:solidFill>
                  <a:schemeClr val="tx2"/>
                </a:solidFill>
                <a:latin typeface="Aptos Mono" panose="020B0009020202020204" pitchFamily="49" charset="0"/>
              </a:rPr>
              <a:t>START fuses classic technical strategies with modern AI, creating a framework that learns, adapts, and evolves in real time.</a:t>
            </a:r>
          </a:p>
          <a:p>
            <a:pPr algn="just">
              <a:lnSpc>
                <a:spcPct val="160000"/>
              </a:lnSpc>
            </a:pPr>
            <a:r>
              <a:rPr lang="en-US" sz="1800" dirty="0">
                <a:solidFill>
                  <a:schemeClr val="tx2"/>
                </a:solidFill>
                <a:latin typeface="Aptos Mono" panose="020B0009020202020204" pitchFamily="49" charset="0"/>
              </a:rPr>
              <a:t>The current prototype demonstrates a working ML pipeline with promising indicators.</a:t>
            </a:r>
          </a:p>
          <a:p>
            <a:pPr algn="just">
              <a:lnSpc>
                <a:spcPct val="160000"/>
              </a:lnSpc>
            </a:pPr>
            <a:r>
              <a:rPr lang="en-US" sz="1800" dirty="0">
                <a:solidFill>
                  <a:schemeClr val="tx2"/>
                </a:solidFill>
                <a:latin typeface="Aptos Mono" panose="020B0009020202020204" pitchFamily="49" charset="0"/>
              </a:rPr>
              <a:t>Reinforcement learning and sentiment-driven intelligence will be integrated in the Capstone phase, completing the adaptive loop.</a:t>
            </a:r>
          </a:p>
          <a:p>
            <a:pPr algn="just">
              <a:lnSpc>
                <a:spcPct val="160000"/>
              </a:lnSpc>
            </a:pPr>
            <a:r>
              <a:rPr lang="en-US" sz="1800" dirty="0">
                <a:solidFill>
                  <a:schemeClr val="tx2"/>
                </a:solidFill>
                <a:latin typeface="Aptos Mono" panose="020B0009020202020204" pitchFamily="49" charset="0"/>
              </a:rPr>
              <a:t>START is designed to scale from retail algorithmic traders to institutional research platforms.</a:t>
            </a:r>
          </a:p>
          <a:p>
            <a:pPr algn="just">
              <a:lnSpc>
                <a:spcPct val="160000"/>
              </a:lnSpc>
            </a:pPr>
            <a:r>
              <a:rPr lang="en-US" sz="1800" dirty="0">
                <a:solidFill>
                  <a:schemeClr val="tx2"/>
                </a:solidFill>
                <a:latin typeface="Aptos Mono" panose="020B0009020202020204" pitchFamily="49" charset="0"/>
              </a:rPr>
              <a:t>It embodies the future of smart, data-driven intraday trading systems.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08923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Click="0" advTm="500">
        <p15:prstTrans prst="pageCurlDouble"/>
      </p:transition>
    </mc:Choice>
    <mc:Fallback xmlns="">
      <p:transition spd="slow" advClick="0" advTm="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400"/>
                            </p:stCondLst>
                            <p:childTnLst>
                              <p:par>
                                <p:cTn id="13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800"/>
                            </p:stCondLst>
                            <p:childTnLst>
                              <p:par>
                                <p:cTn id="17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0"/>
                            </p:stCondLst>
                            <p:childTnLst>
                              <p:par>
                                <p:cTn id="21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400"/>
                            </p:stCondLst>
                            <p:childTnLst>
                              <p:par>
                                <p:cTn id="25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3000"/>
                            </p:stCondLst>
                            <p:childTnLst>
                              <p:par>
                                <p:cTn id="29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0439F2-C157-02CE-EF21-4EDDFC5BB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3245F62-CCC4-49E4-B95B-EA6C1E790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A9552B8-8B40-E580-4D6C-80A2488D0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0395" y="4669478"/>
            <a:ext cx="4246614" cy="857862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en-US" sz="6000" kern="1200" dirty="0">
                <a:solidFill>
                  <a:srgbClr val="002060"/>
                </a:solidFill>
                <a:latin typeface="American Typewriter" panose="02090604020004020304" pitchFamily="18" charset="77"/>
                <a:ea typeface="Menlo" panose="020B0609030804020204" pitchFamily="49" charset="0"/>
                <a:cs typeface="Menlo" panose="020B0609030804020204" pitchFamily="49" charset="0"/>
              </a:rPr>
              <a:t>thank you</a:t>
            </a:r>
          </a:p>
        </p:txBody>
      </p:sp>
      <p:pic>
        <p:nvPicPr>
          <p:cNvPr id="7" name="Graphic 6" descr="Robot">
            <a:extLst>
              <a:ext uri="{FF2B5EF4-FFF2-40B4-BE49-F238E27FC236}">
                <a16:creationId xmlns:a16="http://schemas.microsoft.com/office/drawing/2014/main" id="{36DFA73B-DA07-A75A-C17F-3A47AD020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96200" y="674474"/>
            <a:ext cx="3995004" cy="3995004"/>
          </a:xfrm>
          <a:prstGeom prst="rect">
            <a:avLst/>
          </a:prstGeom>
        </p:spPr>
      </p:pic>
      <p:sp>
        <p:nvSpPr>
          <p:cNvPr id="24" name="sketch line">
            <a:extLst>
              <a:ext uri="{FF2B5EF4-FFF2-40B4-BE49-F238E27FC236}">
                <a16:creationId xmlns:a16="http://schemas.microsoft.com/office/drawing/2014/main" id="{E6C0DD6B-6AA3-448F-9B99-8386295BC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5509052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059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 advClick="0" advTm="500">
        <p15:prstTrans prst="origami"/>
      </p:transition>
    </mc:Choice>
    <mc:Fallback xmlns="">
      <p:transition spd="slow" advClick="0" advTm="5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13027</TotalTime>
  <Words>1317</Words>
  <Application>Microsoft Macintosh PowerPoint</Application>
  <PresentationFormat>Widescreen</PresentationFormat>
  <Paragraphs>149</Paragraphs>
  <Slides>13</Slides>
  <Notes>3</Notes>
  <HiddenSlides>0</HiddenSlides>
  <MMClips>5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American Typewriter</vt:lpstr>
      <vt:lpstr>Aptos</vt:lpstr>
      <vt:lpstr>Aptos Display</vt:lpstr>
      <vt:lpstr>Aptos Mono</vt:lpstr>
      <vt:lpstr>Arial</vt:lpstr>
      <vt:lpstr>Menlo</vt:lpstr>
      <vt:lpstr>Zapfino</vt:lpstr>
      <vt:lpstr>Office Theme</vt:lpstr>
      <vt:lpstr>hello</vt:lpstr>
      <vt:lpstr>Strategic Technical Analysis for Reliable Trading (START) An AI-Driven Market Adaptation for Intraday Trading</vt:lpstr>
      <vt:lpstr>Why START? Goals, Challenges &amp; Approach</vt:lpstr>
      <vt:lpstr>PowerPoint Presentation</vt:lpstr>
      <vt:lpstr>Literature Review</vt:lpstr>
      <vt:lpstr>Data Description</vt:lpstr>
      <vt:lpstr>System Architecture – START Framework</vt:lpstr>
      <vt:lpstr>Methods – START System Workflow</vt:lpstr>
      <vt:lpstr>Modeling &amp; Algorithms</vt:lpstr>
      <vt:lpstr>Preliminary Results – Linear Regression (AAPL)</vt:lpstr>
      <vt:lpstr>Discussion &amp; Future Work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Shanmugapriya Mohan Kumar</dc:creator>
  <cp:lastModifiedBy>Naresh Anbazhagan</cp:lastModifiedBy>
  <cp:revision>21</cp:revision>
  <dcterms:created xsi:type="dcterms:W3CDTF">2025-07-20T23:35:54Z</dcterms:created>
  <dcterms:modified xsi:type="dcterms:W3CDTF">2026-01-10T16:10:55Z</dcterms:modified>
</cp:coreProperties>
</file>