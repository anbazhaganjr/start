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0096D6"/>
                </a:solidFill>
              </a:defRPr>
            </a:pPr>
            <a:r>
              <a:t>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Strategic Technical Analysis for Reliable Trading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</a:defRPr>
            </a:pPr>
            <a:r>
              <a:t>An Adaptive Intraday Trading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</a:defRPr>
            </a:pPr>
            <a:r>
              <a:t>M.S. Data Analytics Capstone | McDaniel College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120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</a:defRPr>
            </a:pPr>
            <a:r>
              <a:t>Naresh Anbazhagan |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Retail traders lack institutional-grade tools for systematic intraday analysis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Individual technical indicators produce noisy, unreliable signals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Most academic studies ignore transaction costs, overstating profitability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• No single approach (ML, RL, or sentiment) consistently outperforms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Research Questions: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  RQ1: Can walk-forward ML improve on technical indicator baselines?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  RQ2: Do RL agents learn profitable policies with cost-aware rewards?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  RQ3: Does LLM sentiment analysis add marginal value?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  RQ4: Which component combination maximizes risk-adjusted return?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Data Ingestion  →  Feature Engineering  →  Model Training  →  Backtesting  →  Dashboard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(yfinance)         (TA indicators)        (ML + RL)       (Cost-aware)    (Streamlit)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6 Pipeline Stages — Orchestrated by run_pipeline.py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Data: 12 symbols × 30-min bars × 2.5 years (Jan 2023 – Jul 2025)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Features: MACD, RSI, Bollinger, SMA(20/50), VWAP, returns, volatility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ML Models: Logistic Regression, Ridge, Random Forest, LSTM, CNN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RL Agents: PPO, DQN (stable-baselines3 + custom Gymnasium env)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Sentiment: Mistral 7B via Ollama + Financial PhraseBank fallback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Backtest: Cost-aware (0.01% slippage, $0.005/share commission)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</a:defRPr>
            </a:pPr>
            <a:r>
              <a:t>Data &amp; 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Symbol Universe (Ring 1):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SPY, QQQ, NVDA, AAPL, TSLA, MSFT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AMZN, META, GOOGL, AMD, NFLX, AVGO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Data Pipeline: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yfinance (primary), Alpaca, Tradier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30-minute OHLCV bars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Session alignment &amp; gap detection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OHLCV validation &amp; outlier flagging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Parquet storage (partitioned by symbol)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Technical Indicators: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MACD (12, 26, 9)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RSI (14-period)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Bollinger Bands (20, 2)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SMA (20 / 50)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VWAP distance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Causal Design: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Target = next-bar direction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Features use only past data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Correlation filter: |r| &gt; 0.95 dropped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No look-ahead bias (verified by tests)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</a:defRPr>
            </a:pPr>
            <a:r>
              <a:t>Machine Learning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Walk-Forward Validation: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Expanding window (train grows over time)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1,500-bar train / 200-bar test windows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Never k-fold (prevents time series leakage)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Models retrained at each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Baselines: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Buy-and-hold (benchmark)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MA crossover (SMA 20/50)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All baselines use same cost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Model                    Type                  Key Parameters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Logistic Regression      Classification        C=1.0, StandardScaler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Ridge Regression         Regression→Binary     alpha=1.0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Random Forest            Classification        n_estimators=50, max_depth=8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LSTM                     Deep Learning         hidden=32, 1 layer, seq_len=20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CNN                      Deep Learning         16→8 filters, kernel=5/3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</a:defRPr>
            </a:pPr>
            <a:r>
              <a:t>Reinforcement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Custom Gymnasium Environment: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Actions: Hold (0), Buy (1), Sell (2)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Observation: feature window + position flag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Long-only (no short selling)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Episode = one symbol's test period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Reward Function: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After-cost PnL per step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Drawdown penalty (configurable)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Shaped reward = PnL – λ ×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PPO (Proximal Policy Optimization):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Learning rate: 0.0003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Batch size: 64, n_steps: 2048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50,000 training timesteps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DQN (Deep Q-Network):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Learning rate: 0.001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Buffer size: 50,000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Exploration: ε 1.0 → 0.05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50,000 training timesteps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Both trained on 12 symbols independently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</a:defRPr>
            </a:pPr>
            <a:r>
              <a:t>LLM Sentiment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Local LLM Pipeline: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Mistral 7B (Q4_K_M quantization)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Runs locally via Ollama (~4.1 GB RAM)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Zero API cost, full privacy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Scoring Method: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Polarity: -1 (bearish) / 0 / +1 (bullish)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Confidence: 0.0 – 1.0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Temperature: 0.1 (deterministic)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Fallback: Financial PhraseBank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(Malo et al., 2014 — 4,840 sentences)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Sentiment Distribution (12 symbols):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Positive: ~37% of headlines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Negative: ~37% of headlines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Neutral:  ~27% of headlines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Integration: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Sentiment score modulates ML signals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Tested in ablation: indicators_ml_sentiment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Near-zero mean sentiment → minimal signal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Expected: generic headlines lack edge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Honest Finding: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Sentiment did NOT improve returns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(PhraseBank headlines are not symbol-specific)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</a:defRPr>
            </a:pPr>
            <a:r>
              <a:t>ML Model Results (12-Symbol Average)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CCCCCC"/>
                </a:solidFill>
              </a:defRPr>
            </a:pPr>
            <a:r>
              <a:t>Strategy              Sharpe    Return    Win Rate    Max DD</a:t>
            </a:r>
          </a:p>
          <a:p>
            <a:pPr>
              <a:spcAft>
                <a:spcPts val="800"/>
              </a:spcAft>
              <a:defRPr sz="1800">
                <a:solidFill>
                  <a:srgbClr val="CCCCCC"/>
                </a:solidFill>
              </a:defRPr>
            </a:pPr>
            <a:r>
              <a:t>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800"/>
              </a:spcAft>
              <a:defRPr sz="1800">
                <a:solidFill>
                  <a:srgbClr val="CCCCCC"/>
                </a:solidFill>
              </a:defRPr>
            </a:pPr>
            <a:r>
              <a:t>buy_hold                1.784     8.15%      0.0%      10.93%</a:t>
            </a:r>
          </a:p>
          <a:p>
            <a:pPr>
              <a:spcAft>
                <a:spcPts val="800"/>
              </a:spcAft>
              <a:defRPr sz="1800">
                <a:solidFill>
                  <a:srgbClr val="CCCCCC"/>
                </a:solidFill>
              </a:defRPr>
            </a:pPr>
            <a:r>
              <a:t>ma_crossover            1.385     4.77%     44.5%       8.01%</a:t>
            </a:r>
          </a:p>
          <a:p>
            <a:pPr>
              <a:spcAft>
                <a:spcPts val="800"/>
              </a:spcAft>
              <a:defRPr sz="1800">
                <a:solidFill>
                  <a:srgbClr val="CCCCCC"/>
                </a:solidFill>
              </a:defRPr>
            </a:pPr>
            <a:r>
              <a:t>logistic                2.005     7.18%     56.6%       5.50%</a:t>
            </a:r>
          </a:p>
          <a:p>
            <a:pPr>
              <a:spcAft>
                <a:spcPts val="800"/>
              </a:spcAft>
              <a:defRPr sz="1800">
                <a:solidFill>
                  <a:srgbClr val="CCCCCC"/>
                </a:solidFill>
              </a:defRPr>
            </a:pPr>
            <a:r>
              <a:t>ridge                   2.070     7.47%     56.9%       5.54%</a:t>
            </a:r>
          </a:p>
          <a:p>
            <a:pPr>
              <a:spcAft>
                <a:spcPts val="800"/>
              </a:spcAft>
              <a:defRPr sz="1800">
                <a:solidFill>
                  <a:srgbClr val="CCCCCC"/>
                </a:solidFill>
              </a:defRPr>
            </a:pPr>
            <a:r>
              <a:t>random_forest           1.001     2.58%     53.6%       6.16%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Key Findings: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Ridge Regression achieves best Sharpe ratio (2.070) — simple models win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Logistic Regression close second (2.005) with similar win rate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Random Forest underperforms (1.001) — overfits in walk-forward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All ML models beat MA crossover baseline on Sharpe ratio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Walk-forward validation prevents look-ahead bias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</a:defRPr>
            </a:pPr>
            <a:r>
              <a:t>Reinforcement Learning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CCCCCC"/>
                </a:solidFill>
              </a:defRPr>
            </a:pPr>
            <a:r>
              <a:t>Agent     Sharpe    Return    Win Rate    Max DD    Avg Trades</a:t>
            </a:r>
          </a:p>
          <a:p>
            <a:pPr>
              <a:spcAft>
                <a:spcPts val="800"/>
              </a:spcAft>
              <a:defRPr sz="1800">
                <a:solidFill>
                  <a:srgbClr val="CCCCCC"/>
                </a:solidFill>
              </a:defRPr>
            </a:pPr>
            <a:r>
              <a:t>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800"/>
              </a:spcAft>
              <a:defRPr sz="1800">
                <a:solidFill>
                  <a:srgbClr val="CCCCCC"/>
                </a:solidFill>
              </a:defRPr>
            </a:pPr>
            <a:r>
              <a:t>rl_ppo      2.594    11.15%     52.7%       6.22%        293</a:t>
            </a:r>
          </a:p>
          <a:p>
            <a:pPr>
              <a:spcAft>
                <a:spcPts val="800"/>
              </a:spcAft>
              <a:defRPr sz="1800">
                <a:solidFill>
                  <a:srgbClr val="CCCCCC"/>
                </a:solidFill>
              </a:defRPr>
            </a:pPr>
            <a:r>
              <a:t>rl_dqn      1.327     5.65%     51.4%       8.27%        425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Key Findings: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PPO achieves highest Sharpe across all models (2.594)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PPO return (11.15%) substantially beats buy-and-hold (8.15%)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DQN more conservative — lower Sharpe (1.327) but reasonable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Both agents learn to time entries/exits despite noisy signals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Cost-aware reward shaping successfully penalizes excessive trading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Caveat: RL agents may overfit in-sample; eval returns &lt; training returns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</a:defRPr>
            </a:pPr>
            <a:r>
              <a:t>Ablation Study — Component 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</a:defRPr>
            </a:pPr>
            <a:r>
              <a:t>Configuration                  Sharpe    Return    Win Rate    Max DD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</a:defRPr>
            </a:pPr>
            <a:r>
              <a:t>buy_and_hold                      1.784     8.15%      0.0%      10.93%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</a:defRPr>
            </a:pPr>
            <a:r>
              <a:t>indicators_only                   1.385     4.77%     44.5%       8.01%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</a:defRPr>
            </a:pPr>
            <a:r>
              <a:t>indicators_ml                     2.005     7.18%     56.6%       5.50%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</a:defRPr>
            </a:pPr>
            <a:r>
              <a:t>indicators_ml_sentiment           2.005     7.18%     56.6%       5.50%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</a:defRPr>
            </a:pPr>
            <a:r>
              <a:t>rl_only                           2.594    11.15%     52.7%       6.22%</a:t>
            </a:r>
          </a:p>
          <a:p>
            <a:pPr>
              <a:spcAft>
                <a:spcPts val="800"/>
              </a:spcAft>
              <a:defRPr sz="1600">
                <a:solidFill>
                  <a:srgbClr val="CCCCCC"/>
                </a:solidFill>
              </a:defRPr>
            </a:pPr>
            <a:r>
              <a:t>full_hybrid                       2.543     9.56%     52.5%       6.06%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Key Findings: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RL-only achieves highest Sharpe (2.594) — cost-aware reward shaping is effective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Full hybrid ensemble (majority vote) ranks second (2.543)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Adding ML to indicators improves Sharpe by +45% (1.385 → 2.005)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Sentiment adds zero marginal value (generic PhraseBank headlines)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</a:defRPr>
            </a:pPr>
            <a:r>
              <a:t>Ablation — Answering the 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RQ1: Can walk-forward ML improve on indicator baselines?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✓ YES — ML adds +45% Sharpe improvement over MA crossover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Ridge &amp; Logistic outperform; Random Forest overfits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RQ2: Do RL agents learn profitable cost-aware policies?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✓ YES — PPO achieves highest Sharpe (2.594) across all approaches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Cost-aware reward shaping successfully controls turnover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RQ3: Does LLM sentiment add marginal value?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✗ NO — Generic PhraseBank headlines produce near-zero signal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Live news API needed for symbol-specific sentiment edge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RQ4: Which combination maximizes risk-adjusted return?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→ RL-only slightly edges full hybrid ensemble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→ Ensemble provides more stable, lower-variance signals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</a:defRPr>
            </a:pPr>
            <a:r>
              <a:t>Cost-Aware Backtesting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Transaction Cost Model: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Slippage: 0.01% per trade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Commission: $0.005 per share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Position sizing: 100 shares/trade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Initial capital: $100,000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Risk Metrics Computed: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Sharpe Ratio (risk-free = 0)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Sortino Ratio (downside only)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Calmar Ratio (return / max DD)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Maximum Drawdown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Profit Factor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Win Rate &amp; Turnover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Regime Analysis: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SPY-based classification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Bull / Bear / Sideways regimes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Strategy performance by regime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Walk-Forward Design: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No future information in features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No future information in targets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Expanding window retrains models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Results are out-of-sample only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All results include transaction costs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(Many academic studies omit this)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</a:defRPr>
            </a:pPr>
            <a:r>
              <a:t>Interactive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5 Interactive Pages — Streamlit Community Cloud ($0 hosting)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🔥 Signal Heatmap     Model signal agreement across symbols &amp; time (Plotly)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💰 PnL Charts         Equity curves, drawdowns, candlestick charts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📰 Sentiment          LLM scoring results, headline analysis, confidence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🔬 Ablation           Component contribution radar charts, grouped bars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📊 Paper Trade        Interactive strategy simulator with KPI cards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Architecture: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• Pre-computed results (Parquet) — never runs models live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• Email whitelist authentication (via Streamlit Cloud Secrets)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• GitHub Actions refreshes data daily (weekdays 6 AM EST)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• Plotly for all visualizations (interactive zoom, hover, export)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</a:defRPr>
            </a:pPr>
            <a:r>
              <a:t>Technical Stack &amp; Design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Core Technologies: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Python 3.12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PyTorch (CPU-only) — models &lt;10K params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scikit-learn — classical ML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stable-baselines3 — RL agents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Gymnasium — custom trading env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Ollama + Mistral 7B — local LLM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Streamlit — dashboard framework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Plotly — interactive visualization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Parquet — columnar storage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GitHub Actions —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Design Decisions: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Walk-forward (never k-fold)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Causal features (no look-ahead)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CPU-only (MPS overhead &gt; speedup)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Pre-computed dashboard (no OOM)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Multi-source data abstraction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Centralized config (settings.yaml)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78 parameters in one file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Testing: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26 unit tests (pytest)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Data cleaning, features, backtest, RL env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Leakage prevention verified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</a:defRPr>
            </a:pPr>
            <a:r>
              <a:t>Limitations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Current Limitations: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Walk-forward accuracy ~50-52%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  (expected for next-bar prediction)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RL agents show in-sample overfitting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Sentiment uses generic headlines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  (not symbol-specific)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Long-only (no short selling)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Fixed position sizing (100 shares)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8 GB RAM constraint limits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  model complexity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Future Directions: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Live news API (Marketaux/Benzinga)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  for real-time sentiment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Transformer models (temporal attention)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Dynamic position sizing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Multi-asset portfolio optimization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Short selling &amp; margin modeling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Higher-frequency data (1-min, tick)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GPU acceleration for larger models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Paper trading with live broker API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</a:defRPr>
            </a:pPr>
            <a:r>
              <a:t>  • Ensemble weighting optimization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6D6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START demonstrates a complete, reproducible adaptive trading framework: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✓  Walk-forward ML outperforms technical indicator baselines (+45% Sharpe)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✓  PPO reinforcement learning achieves best risk-adjusted returns (Sharpe 2.594)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✓  Cost-aware backtesting reveals true after-cost profitability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✓  Ablation studies isolate each component's contribution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✓  LLM sentiment shows potential but requires live, symbol-specific news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✓  Full hybrid ensemble provides stable, diversified signal generation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The 51% accuracy paradox: small directional edges compound into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meaningful Sharpe ratios when combined with disciplined risk management.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All code, data, and results available at: github.com/naresh-anbazhagan/capstone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0096D6"/>
                </a:solidFill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</a:defRPr>
            </a:pPr>
            <a:r>
              <a:t>Thank you for your time and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</a:defRPr>
            </a:pPr>
            <a:r>
              <a:t>Naresh Anbazhagan | naresh.anbazhagan@mcdaniel.edu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</a:defRPr>
            </a:pPr>
            <a:r>
              <a:t>github.com/naresh-anbazhagan/capstone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